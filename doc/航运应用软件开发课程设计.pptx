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333" r:id="rId2"/>
    <p:sldId id="259" r:id="rId3"/>
    <p:sldId id="336" r:id="rId4"/>
    <p:sldId id="339" r:id="rId5"/>
    <p:sldId id="340" r:id="rId6"/>
    <p:sldId id="338" r:id="rId7"/>
    <p:sldId id="258" r:id="rId8"/>
    <p:sldId id="341" r:id="rId9"/>
    <p:sldId id="342" r:id="rId10"/>
    <p:sldId id="343" r:id="rId11"/>
    <p:sldId id="305" r:id="rId12"/>
    <p:sldId id="262" r:id="rId13"/>
    <p:sldId id="350" r:id="rId14"/>
    <p:sldId id="269" r:id="rId15"/>
    <p:sldId id="270" r:id="rId16"/>
    <p:sldId id="351" r:id="rId17"/>
    <p:sldId id="352" r:id="rId18"/>
    <p:sldId id="353" r:id="rId19"/>
    <p:sldId id="290"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0000FF"/>
    <a:srgbClr val="FFFF00"/>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96"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4CDEEE-E740-4954-A3B8-138DC2E4E9C8}" type="datetimeFigureOut">
              <a:rPr lang="zh-CN" altLang="en-US" smtClean="0"/>
              <a:t>2026/1/25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0C42FD-8035-40CF-A585-E7E8215A2BB7}" type="slidenum">
              <a:rPr lang="zh-CN" altLang="en-US" smtClean="0"/>
              <a:t>‹#›</a:t>
            </a:fld>
            <a:endParaRPr lang="zh-CN" altLang="en-US"/>
          </a:p>
        </p:txBody>
      </p:sp>
    </p:spTree>
    <p:extLst>
      <p:ext uri="{BB962C8B-B14F-4D97-AF65-F5344CB8AC3E}">
        <p14:creationId xmlns:p14="http://schemas.microsoft.com/office/powerpoint/2010/main" val="4078103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A0C42FD-8035-40CF-A585-E7E8215A2BB7}" type="slidenum">
              <a:rPr lang="zh-CN" altLang="en-US" smtClean="0"/>
              <a:t>14</a:t>
            </a:fld>
            <a:endParaRPr lang="zh-CN" altLang="en-US"/>
          </a:p>
        </p:txBody>
      </p:sp>
    </p:spTree>
    <p:extLst>
      <p:ext uri="{BB962C8B-B14F-4D97-AF65-F5344CB8AC3E}">
        <p14:creationId xmlns:p14="http://schemas.microsoft.com/office/powerpoint/2010/main" val="3904627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9FCCA6F-C9E9-4BE8-8059-A081F62040C8}" type="datetimeFigureOut">
              <a:rPr lang="zh-CN" altLang="en-US" smtClean="0"/>
              <a:t>2026/1/25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E42D3F-04AD-4F7A-B0A2-A845293660A8}" type="slidenum">
              <a:rPr lang="zh-CN" altLang="en-US" smtClean="0"/>
              <a:t>‹#›</a:t>
            </a:fld>
            <a:endParaRPr lang="zh-CN" altLang="en-US"/>
          </a:p>
        </p:txBody>
      </p:sp>
    </p:spTree>
    <p:extLst>
      <p:ext uri="{BB962C8B-B14F-4D97-AF65-F5344CB8AC3E}">
        <p14:creationId xmlns:p14="http://schemas.microsoft.com/office/powerpoint/2010/main" val="1959620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Rectangle 28"/>
          <p:cNvSpPr>
            <a:spLocks noChangeArrowheads="1"/>
          </p:cNvSpPr>
          <p:nvPr userDrawn="1"/>
        </p:nvSpPr>
        <p:spPr bwMode="gray">
          <a:xfrm>
            <a:off x="0" y="791932"/>
            <a:ext cx="10597243" cy="57154"/>
          </a:xfrm>
          <a:prstGeom prst="rect">
            <a:avLst/>
          </a:prstGeom>
          <a:gradFill rotWithShape="0">
            <a:gsLst>
              <a:gs pos="0">
                <a:schemeClr val="hlink"/>
              </a:gs>
              <a:gs pos="100000">
                <a:schemeClr val="bg1"/>
              </a:gs>
            </a:gsLst>
            <a:lin ang="0" scaled="1"/>
          </a:gradFill>
          <a:ln>
            <a:noFill/>
          </a:ln>
          <a:effectLst/>
          <a:extLst>
            <a:ext uri="{91240B29-F687-4F45-9708-019B960494DF}">
              <a14:hiddenLine xmlns:a14="http://schemas.microsoft.com/office/drawing/2010/main" w="1270" cap="rnd">
                <a:solidFill>
                  <a:srgbClr val="FFCC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0">
              <a:solidFill>
                <a:schemeClr val="tx1"/>
              </a:solidFill>
              <a:latin typeface="Tahoma" panose="020B0604030504040204" pitchFamily="34" charset="0"/>
              <a:ea typeface="宋体" panose="02010600030101010101" pitchFamily="2" charset="-122"/>
            </a:endParaRPr>
          </a:p>
        </p:txBody>
      </p:sp>
      <p:sp>
        <p:nvSpPr>
          <p:cNvPr id="2" name="标题 1"/>
          <p:cNvSpPr>
            <a:spLocks noGrp="1"/>
          </p:cNvSpPr>
          <p:nvPr>
            <p:ph type="title"/>
          </p:nvPr>
        </p:nvSpPr>
        <p:spPr>
          <a:xfrm>
            <a:off x="0" y="14876"/>
            <a:ext cx="11985171" cy="736236"/>
          </a:xfrm>
        </p:spPr>
        <p:txBody>
          <a:bodyPr/>
          <a:lstStyle/>
          <a:p>
            <a:r>
              <a:rPr lang="zh-CN" altLang="en-US"/>
              <a:t>单击此处编辑母版标题样式</a:t>
            </a:r>
          </a:p>
        </p:txBody>
      </p:sp>
      <p:sp>
        <p:nvSpPr>
          <p:cNvPr id="3" name="内容占位符 2"/>
          <p:cNvSpPr>
            <a:spLocks noGrp="1"/>
          </p:cNvSpPr>
          <p:nvPr>
            <p:ph idx="1"/>
          </p:nvPr>
        </p:nvSpPr>
        <p:spPr>
          <a:xfrm>
            <a:off x="176892" y="908591"/>
            <a:ext cx="11838215" cy="5875930"/>
          </a:xfrm>
        </p:spPr>
        <p:txBody>
          <a:bodyPr>
            <a:normAutofit/>
          </a:bodyPr>
          <a:lstStyle>
            <a:lvl1pPr>
              <a:defRPr sz="2800"/>
            </a:lvl1pPr>
            <a:lvl2pPr>
              <a:defRPr sz="2800"/>
            </a:lvl2pPr>
            <a:lvl3pPr>
              <a:defRPr sz="2800"/>
            </a:lvl3pPr>
            <a:lvl4pPr>
              <a:defRPr sz="2800"/>
            </a:lvl4pPr>
            <a:lvl5pPr>
              <a:defRPr sz="2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9FCCA6F-C9E9-4BE8-8059-A081F62040C8}" type="datetimeFigureOut">
              <a:rPr lang="zh-CN" altLang="en-US" smtClean="0"/>
              <a:t>2026/1/25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E42D3F-04AD-4F7A-B0A2-A845293660A8}" type="slidenum">
              <a:rPr lang="zh-CN" altLang="en-US" smtClean="0"/>
              <a:t>‹#›</a:t>
            </a:fld>
            <a:endParaRPr lang="zh-CN" altLang="en-US"/>
          </a:p>
        </p:txBody>
      </p:sp>
    </p:spTree>
    <p:extLst>
      <p:ext uri="{BB962C8B-B14F-4D97-AF65-F5344CB8AC3E}">
        <p14:creationId xmlns:p14="http://schemas.microsoft.com/office/powerpoint/2010/main" val="137572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9FCCA6F-C9E9-4BE8-8059-A081F62040C8}" type="datetimeFigureOut">
              <a:rPr lang="zh-CN" altLang="en-US" smtClean="0"/>
              <a:t>2026/1/25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E42D3F-04AD-4F7A-B0A2-A845293660A8}" type="slidenum">
              <a:rPr lang="zh-CN" altLang="en-US" smtClean="0"/>
              <a:t>‹#›</a:t>
            </a:fld>
            <a:endParaRPr lang="zh-CN" altLang="en-US"/>
          </a:p>
        </p:txBody>
      </p:sp>
    </p:spTree>
    <p:extLst>
      <p:ext uri="{BB962C8B-B14F-4D97-AF65-F5344CB8AC3E}">
        <p14:creationId xmlns:p14="http://schemas.microsoft.com/office/powerpoint/2010/main" val="2697044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79FCCA6F-C9E9-4BE8-8059-A081F62040C8}" type="datetimeFigureOut">
              <a:rPr lang="zh-CN" altLang="en-US" smtClean="0"/>
              <a:t>2026/1/25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E42D3F-04AD-4F7A-B0A2-A845293660A8}" type="slidenum">
              <a:rPr lang="zh-CN" altLang="en-US" smtClean="0"/>
              <a:t>‹#›</a:t>
            </a:fld>
            <a:endParaRPr lang="zh-CN" altLang="en-US"/>
          </a:p>
        </p:txBody>
      </p:sp>
    </p:spTree>
    <p:extLst>
      <p:ext uri="{BB962C8B-B14F-4D97-AF65-F5344CB8AC3E}">
        <p14:creationId xmlns:p14="http://schemas.microsoft.com/office/powerpoint/2010/main" val="196556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79FCCA6F-C9E9-4BE8-8059-A081F62040C8}" type="datetimeFigureOut">
              <a:rPr lang="zh-CN" altLang="en-US" smtClean="0"/>
              <a:t>2026/1/25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FE42D3F-04AD-4F7A-B0A2-A845293660A8}" type="slidenum">
              <a:rPr lang="zh-CN" altLang="en-US" smtClean="0"/>
              <a:t>‹#›</a:t>
            </a:fld>
            <a:endParaRPr lang="zh-CN" altLang="en-US"/>
          </a:p>
        </p:txBody>
      </p:sp>
    </p:spTree>
    <p:extLst>
      <p:ext uri="{BB962C8B-B14F-4D97-AF65-F5344CB8AC3E}">
        <p14:creationId xmlns:p14="http://schemas.microsoft.com/office/powerpoint/2010/main" val="2225637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9FCCA6F-C9E9-4BE8-8059-A081F62040C8}" type="datetimeFigureOut">
              <a:rPr lang="zh-CN" altLang="en-US" smtClean="0"/>
              <a:t>2026/1/25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FE42D3F-04AD-4F7A-B0A2-A845293660A8}" type="slidenum">
              <a:rPr lang="zh-CN" altLang="en-US" smtClean="0"/>
              <a:t>‹#›</a:t>
            </a:fld>
            <a:endParaRPr lang="zh-CN" altLang="en-US"/>
          </a:p>
        </p:txBody>
      </p:sp>
    </p:spTree>
    <p:extLst>
      <p:ext uri="{BB962C8B-B14F-4D97-AF65-F5344CB8AC3E}">
        <p14:creationId xmlns:p14="http://schemas.microsoft.com/office/powerpoint/2010/main" val="377444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9FCCA6F-C9E9-4BE8-8059-A081F62040C8}" type="datetimeFigureOut">
              <a:rPr lang="zh-CN" altLang="en-US" smtClean="0"/>
              <a:t>2026/1/25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FE42D3F-04AD-4F7A-B0A2-A845293660A8}" type="slidenum">
              <a:rPr lang="zh-CN" altLang="en-US" smtClean="0"/>
              <a:t>‹#›</a:t>
            </a:fld>
            <a:endParaRPr lang="zh-CN" altLang="en-US"/>
          </a:p>
        </p:txBody>
      </p:sp>
    </p:spTree>
    <p:extLst>
      <p:ext uri="{BB962C8B-B14F-4D97-AF65-F5344CB8AC3E}">
        <p14:creationId xmlns:p14="http://schemas.microsoft.com/office/powerpoint/2010/main" val="399924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9FCCA6F-C9E9-4BE8-8059-A081F62040C8}" type="datetimeFigureOut">
              <a:rPr lang="zh-CN" altLang="en-US" smtClean="0"/>
              <a:t>2026/1/25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E42D3F-04AD-4F7A-B0A2-A845293660A8}" type="slidenum">
              <a:rPr lang="zh-CN" altLang="en-US" smtClean="0"/>
              <a:t>‹#›</a:t>
            </a:fld>
            <a:endParaRPr lang="zh-CN" altLang="en-US"/>
          </a:p>
        </p:txBody>
      </p:sp>
    </p:spTree>
    <p:extLst>
      <p:ext uri="{BB962C8B-B14F-4D97-AF65-F5344CB8AC3E}">
        <p14:creationId xmlns:p14="http://schemas.microsoft.com/office/powerpoint/2010/main" val="26182623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9FCCA6F-C9E9-4BE8-8059-A081F62040C8}" type="datetimeFigureOut">
              <a:rPr lang="zh-CN" altLang="en-US" smtClean="0"/>
              <a:t>2026/1/25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E42D3F-04AD-4F7A-B0A2-A845293660A8}" type="slidenum">
              <a:rPr lang="zh-CN" altLang="en-US" smtClean="0"/>
              <a:t>‹#›</a:t>
            </a:fld>
            <a:endParaRPr lang="zh-CN" altLang="en-US"/>
          </a:p>
        </p:txBody>
      </p:sp>
    </p:spTree>
    <p:extLst>
      <p:ext uri="{BB962C8B-B14F-4D97-AF65-F5344CB8AC3E}">
        <p14:creationId xmlns:p14="http://schemas.microsoft.com/office/powerpoint/2010/main" val="2448979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9FCCA6F-C9E9-4BE8-8059-A081F62040C8}" type="datetimeFigureOut">
              <a:rPr lang="zh-CN" altLang="en-US" smtClean="0"/>
              <a:t>2026/1/25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E42D3F-04AD-4F7A-B0A2-A845293660A8}" type="slidenum">
              <a:rPr lang="zh-CN" altLang="en-US" smtClean="0"/>
              <a:t>‹#›</a:t>
            </a:fld>
            <a:endParaRPr lang="zh-CN" altLang="en-US"/>
          </a:p>
        </p:txBody>
      </p:sp>
    </p:spTree>
    <p:extLst>
      <p:ext uri="{BB962C8B-B14F-4D97-AF65-F5344CB8AC3E}">
        <p14:creationId xmlns:p14="http://schemas.microsoft.com/office/powerpoint/2010/main" val="2785867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9FCCA6F-C9E9-4BE8-8059-A081F62040C8}" type="datetimeFigureOut">
              <a:rPr lang="zh-CN" altLang="en-US" smtClean="0"/>
              <a:t>2026/1/25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E42D3F-04AD-4F7A-B0A2-A845293660A8}" type="slidenum">
              <a:rPr lang="zh-CN" altLang="en-US" smtClean="0"/>
              <a:t>‹#›</a:t>
            </a:fld>
            <a:endParaRPr lang="zh-CN" altLang="en-US"/>
          </a:p>
        </p:txBody>
      </p:sp>
    </p:spTree>
    <p:extLst>
      <p:ext uri="{BB962C8B-B14F-4D97-AF65-F5344CB8AC3E}">
        <p14:creationId xmlns:p14="http://schemas.microsoft.com/office/powerpoint/2010/main" val="1332471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0" y="-50436"/>
            <a:ext cx="11985171" cy="736236"/>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146956" y="872015"/>
            <a:ext cx="11838215" cy="5085727"/>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FCCA6F-C9E9-4BE8-8059-A081F62040C8}" type="datetimeFigureOut">
              <a:rPr lang="zh-CN" altLang="en-US" smtClean="0"/>
              <a:t>2026/1/25</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E42D3F-04AD-4F7A-B0A2-A845293660A8}" type="slidenum">
              <a:rPr lang="zh-CN" altLang="en-US" smtClean="0"/>
              <a:t>‹#›</a:t>
            </a:fld>
            <a:endParaRPr lang="zh-CN" altLang="en-US" dirty="0"/>
          </a:p>
        </p:txBody>
      </p:sp>
      <p:pic>
        <p:nvPicPr>
          <p:cNvPr id="10" name="图片 9"/>
          <p:cNvPicPr>
            <a:picLocks noChangeAspect="1"/>
          </p:cNvPicPr>
          <p:nvPr userDrawn="1"/>
        </p:nvPicPr>
        <p:blipFill>
          <a:blip r:embed="rId13"/>
          <a:stretch>
            <a:fillRect/>
          </a:stretch>
        </p:blipFill>
        <p:spPr>
          <a:xfrm>
            <a:off x="11248047" y="259585"/>
            <a:ext cx="835224" cy="780356"/>
          </a:xfrm>
          <a:prstGeom prst="rect">
            <a:avLst/>
          </a:prstGeom>
        </p:spPr>
      </p:pic>
      <p:sp>
        <p:nvSpPr>
          <p:cNvPr id="11" name="Text Box 11"/>
          <p:cNvSpPr txBox="1">
            <a:spLocks noChangeArrowheads="1"/>
          </p:cNvSpPr>
          <p:nvPr userDrawn="1"/>
        </p:nvSpPr>
        <p:spPr bwMode="auto">
          <a:xfrm>
            <a:off x="9527721" y="5870"/>
            <a:ext cx="266427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800" b="0" dirty="0">
                <a:solidFill>
                  <a:srgbClr val="FF0000"/>
                </a:solidFill>
                <a:latin typeface="Times New Roman" panose="02020603050405020304" pitchFamily="18" charset="0"/>
                <a:ea typeface="华文行楷" panose="02010800040101010101" pitchFamily="2" charset="-122"/>
              </a:rPr>
              <a:t>航运应用软件开发</a:t>
            </a:r>
            <a:r>
              <a:rPr lang="zh-CN" altLang="en-US" sz="1800" b="0" dirty="0">
                <a:solidFill>
                  <a:srgbClr val="006600"/>
                </a:solidFill>
                <a:latin typeface="Times New Roman" panose="02020603050405020304" pitchFamily="18" charset="0"/>
                <a:ea typeface="华文行楷" panose="02010800040101010101" pitchFamily="2" charset="-122"/>
              </a:rPr>
              <a:t>课程设计</a:t>
            </a:r>
          </a:p>
        </p:txBody>
      </p:sp>
    </p:spTree>
    <p:extLst>
      <p:ext uri="{BB962C8B-B14F-4D97-AF65-F5344CB8AC3E}">
        <p14:creationId xmlns:p14="http://schemas.microsoft.com/office/powerpoint/2010/main" val="36395281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3200" kern="1200">
          <a:solidFill>
            <a:srgbClr val="0000FF"/>
          </a:solidFill>
          <a:latin typeface="楷体" panose="02010609060101010101" pitchFamily="49" charset="-122"/>
          <a:ea typeface="楷体" panose="02010609060101010101" pitchFamily="49" charset="-122"/>
          <a:cs typeface="+mj-cs"/>
        </a:defRPr>
      </a:lvl1pPr>
    </p:titleStyle>
    <p:bodyStyle>
      <a:lvl1pPr marL="457200" indent="-457200" algn="l" defTabSz="914400" rtl="0" eaLnBrk="1" latinLnBrk="0" hangingPunct="1">
        <a:lnSpc>
          <a:spcPct val="150000"/>
        </a:lnSpc>
        <a:spcBef>
          <a:spcPts val="1000"/>
        </a:spcBef>
        <a:buClr>
          <a:srgbClr val="FF0000"/>
        </a:buClr>
        <a:buFont typeface="Wingdings" panose="05000000000000000000" pitchFamily="2" charset="2"/>
        <a:buChar char="l"/>
        <a:defRPr sz="3200" kern="1200">
          <a:solidFill>
            <a:srgbClr val="0000FF"/>
          </a:solidFill>
          <a:latin typeface="楷体" panose="02010609060101010101" pitchFamily="49" charset="-122"/>
          <a:ea typeface="楷体" panose="02010609060101010101" pitchFamily="49" charset="-122"/>
          <a:cs typeface="+mn-cs"/>
        </a:defRPr>
      </a:lvl1pPr>
      <a:lvl2pPr marL="685800" indent="-228600" algn="l" defTabSz="914400" rtl="0" eaLnBrk="1" latinLnBrk="0" hangingPunct="1">
        <a:lnSpc>
          <a:spcPct val="150000"/>
        </a:lnSpc>
        <a:spcBef>
          <a:spcPts val="500"/>
        </a:spcBef>
        <a:buClr>
          <a:srgbClr val="00CC00"/>
        </a:buClr>
        <a:buFont typeface="Wingdings" panose="05000000000000000000" pitchFamily="2" charset="2"/>
        <a:buChar char="Ø"/>
        <a:defRPr sz="2800" kern="1200">
          <a:solidFill>
            <a:srgbClr val="0000FF"/>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lnSpc>
          <a:spcPct val="150000"/>
        </a:lnSpc>
        <a:spcBef>
          <a:spcPts val="500"/>
        </a:spcBef>
        <a:buClr>
          <a:srgbClr val="006666"/>
        </a:buClr>
        <a:buFont typeface="Wingdings" panose="05000000000000000000" pitchFamily="2" charset="2"/>
        <a:buChar char="u"/>
        <a:defRPr sz="2800" kern="1200">
          <a:solidFill>
            <a:srgbClr val="0000FF"/>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rgbClr val="0000FF"/>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rgbClr val="0000FF"/>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EE40C93A-4E74-07C3-5502-27C7BE271A20}"/>
              </a:ext>
            </a:extLst>
          </p:cNvPr>
          <p:cNvPicPr>
            <a:picLocks noChangeAspect="1"/>
          </p:cNvPicPr>
          <p:nvPr/>
        </p:nvPicPr>
        <p:blipFill>
          <a:blip r:embed="rId2"/>
          <a:stretch>
            <a:fillRect/>
          </a:stretch>
        </p:blipFill>
        <p:spPr>
          <a:xfrm>
            <a:off x="0" y="7172"/>
            <a:ext cx="12192000" cy="6843655"/>
          </a:xfrm>
          <a:prstGeom prst="rect">
            <a:avLst/>
          </a:prstGeom>
        </p:spPr>
      </p:pic>
    </p:spTree>
    <p:extLst>
      <p:ext uri="{BB962C8B-B14F-4D97-AF65-F5344CB8AC3E}">
        <p14:creationId xmlns:p14="http://schemas.microsoft.com/office/powerpoint/2010/main" val="3602706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灯片编号占位符 5"/>
          <p:cNvSpPr>
            <a:spLocks noGrp="1"/>
          </p:cNvSpPr>
          <p:nvPr>
            <p:ph type="sldNum" sz="quarter" idx="12"/>
          </p:nvPr>
        </p:nvSpPr>
        <p:spPr/>
        <p:txBody>
          <a:bodyPr/>
          <a:lstStyle/>
          <a:p>
            <a:fld id="{734AECBE-4FD8-48E6-BD24-A305318081FC}" type="slidenum">
              <a:rPr lang="en-US" altLang="zh-CN"/>
              <a:pPr/>
              <a:t>2</a:t>
            </a:fld>
            <a:endParaRPr lang="en-US" altLang="zh-CN"/>
          </a:p>
        </p:txBody>
      </p:sp>
      <p:sp>
        <p:nvSpPr>
          <p:cNvPr id="10264" name="AutoShape 24"/>
          <p:cNvSpPr>
            <a:spLocks noChangeArrowheads="1"/>
          </p:cNvSpPr>
          <p:nvPr/>
        </p:nvSpPr>
        <p:spPr bwMode="gray">
          <a:xfrm>
            <a:off x="3975101" y="2960896"/>
            <a:ext cx="4435475" cy="598488"/>
          </a:xfrm>
          <a:prstGeom prst="roundRect">
            <a:avLst>
              <a:gd name="adj" fmla="val 50000"/>
            </a:avLst>
          </a:prstGeom>
          <a:gradFill rotWithShape="1">
            <a:gsLst>
              <a:gs pos="0">
                <a:srgbClr val="DDDDDD"/>
              </a:gs>
              <a:gs pos="50000">
                <a:srgbClr val="DDDDDD">
                  <a:gamma/>
                  <a:tint val="33725"/>
                  <a:invGamma/>
                </a:srgbClr>
              </a:gs>
              <a:gs pos="100000">
                <a:srgbClr val="DDDDDD"/>
              </a:gs>
            </a:gsLst>
            <a:lin ang="5400000" scaled="1"/>
          </a:gradFill>
          <a:ln>
            <a:noFill/>
          </a:ln>
          <a:effectLst/>
          <a:extLst>
            <a:ext uri="{91240B29-F687-4F45-9708-019B960494DF}">
              <a14:hiddenLine xmlns:a14="http://schemas.microsoft.com/office/drawing/2010/main" w="19050">
                <a:solidFill>
                  <a:srgbClr val="C0C0C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2" name="Rectangle 2"/>
          <p:cNvSpPr>
            <a:spLocks noGrp="1" noChangeArrowheads="1"/>
          </p:cNvSpPr>
          <p:nvPr>
            <p:ph type="title"/>
          </p:nvPr>
        </p:nvSpPr>
        <p:spPr/>
        <p:txBody>
          <a:bodyPr/>
          <a:lstStyle/>
          <a:p>
            <a:pPr algn="ctr"/>
            <a:r>
              <a:rPr lang="zh-CN" altLang="en-US" dirty="0"/>
              <a:t>本讲主要内容</a:t>
            </a:r>
          </a:p>
        </p:txBody>
      </p:sp>
      <p:sp>
        <p:nvSpPr>
          <p:cNvPr id="10243" name="AutoShape 3"/>
          <p:cNvSpPr>
            <a:spLocks noChangeArrowheads="1"/>
          </p:cNvSpPr>
          <p:nvPr/>
        </p:nvSpPr>
        <p:spPr bwMode="gray">
          <a:xfrm>
            <a:off x="3975101" y="1962150"/>
            <a:ext cx="4435475" cy="598488"/>
          </a:xfrm>
          <a:prstGeom prst="roundRect">
            <a:avLst>
              <a:gd name="adj" fmla="val 50000"/>
            </a:avLst>
          </a:prstGeom>
          <a:gradFill rotWithShape="1">
            <a:gsLst>
              <a:gs pos="0">
                <a:srgbClr val="DDDDDD"/>
              </a:gs>
              <a:gs pos="50000">
                <a:srgbClr val="DDDDDD">
                  <a:gamma/>
                  <a:tint val="33725"/>
                  <a:invGamma/>
                </a:srgbClr>
              </a:gs>
              <a:gs pos="100000">
                <a:srgbClr val="DDDDDD"/>
              </a:gs>
            </a:gsLst>
            <a:lin ang="5400000" scaled="1"/>
          </a:gradFill>
          <a:ln>
            <a:noFill/>
          </a:ln>
          <a:effectLst/>
          <a:extLst>
            <a:ext uri="{91240B29-F687-4F45-9708-019B960494DF}">
              <a14:hiddenLine xmlns:a14="http://schemas.microsoft.com/office/drawing/2010/main" w="19050">
                <a:solidFill>
                  <a:srgbClr val="C0C0C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4" name="Text Box 4"/>
          <p:cNvSpPr txBox="1">
            <a:spLocks noChangeArrowheads="1"/>
          </p:cNvSpPr>
          <p:nvPr/>
        </p:nvSpPr>
        <p:spPr bwMode="gray">
          <a:xfrm>
            <a:off x="4414699" y="1975172"/>
            <a:ext cx="4548089" cy="461665"/>
          </a:xfrm>
          <a:prstGeom prst="rect">
            <a:avLst/>
          </a:prstGeom>
          <a:noFill/>
          <a:ln>
            <a:noFill/>
          </a:ln>
          <a:effectLst/>
          <a:extLst>
            <a:ext uri="{909E8E84-426E-40DD-AFC4-6F175D3DCCD1}">
              <a14:hiddenFill xmlns:a14="http://schemas.microsoft.com/office/drawing/2010/main">
                <a:solidFill>
                  <a:srgbClr val="9A2FBB"/>
                </a:solidFill>
              </a14:hiddenFill>
            </a:ext>
            <a:ext uri="{91240B29-F687-4F45-9708-019B960494DF}">
              <a14:hiddenLine xmlns:a14="http://schemas.microsoft.com/office/drawing/2010/main" w="9525">
                <a:solidFill>
                  <a:srgbClr val="1C1C1C"/>
                </a:solidFill>
                <a:miter lim="800000"/>
                <a:headEnd/>
                <a:tailEnd/>
              </a14:hiddenLine>
            </a:ext>
            <a:ext uri="{AF507438-7753-43E0-B8FC-AC1667EBCBE1}">
              <a14:hiddenEffects xmlns:a14="http://schemas.microsoft.com/office/drawing/2010/main">
                <a:effectLst>
                  <a:outerShdw dist="17961" dir="2700000" algn="ctr" rotWithShape="0">
                    <a:schemeClr val="bg1">
                      <a:alpha val="20000"/>
                    </a:schemeClr>
                  </a:outerShdw>
                </a:effectLst>
              </a14:hiddenEffects>
            </a:ext>
          </a:extLst>
        </p:spPr>
        <p:txBody>
          <a:bodyPr wrap="square">
            <a:spAutoFit/>
          </a:bodyPr>
          <a:lstStyle/>
          <a:p>
            <a:pPr>
              <a:spcBef>
                <a:spcPct val="50000"/>
              </a:spcBef>
            </a:pPr>
            <a:r>
              <a:rPr lang="zh-CN" altLang="en-US" sz="2400" dirty="0">
                <a:solidFill>
                  <a:srgbClr val="0000FF"/>
                </a:solidFill>
                <a:latin typeface="华文楷体" panose="02010600040101010101" pitchFamily="2" charset="-122"/>
                <a:ea typeface="华文楷体" panose="02010600040101010101" pitchFamily="2" charset="-122"/>
              </a:rPr>
              <a:t>   航运航运应用软件开发的目的</a:t>
            </a:r>
          </a:p>
        </p:txBody>
      </p:sp>
      <p:sp>
        <p:nvSpPr>
          <p:cNvPr id="10245" name="Oval 5"/>
          <p:cNvSpPr>
            <a:spLocks noChangeArrowheads="1"/>
          </p:cNvSpPr>
          <p:nvPr/>
        </p:nvSpPr>
        <p:spPr bwMode="gray">
          <a:xfrm>
            <a:off x="3890964" y="1719263"/>
            <a:ext cx="600075" cy="615950"/>
          </a:xfrm>
          <a:prstGeom prst="ellipse">
            <a:avLst/>
          </a:prstGeom>
          <a:solidFill>
            <a:srgbClr val="0091D2">
              <a:alpha val="80000"/>
            </a:srgbClr>
          </a:solidFill>
          <a:ln w="57150" algn="ctr">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6" name="Text Box 6"/>
          <p:cNvSpPr txBox="1">
            <a:spLocks noChangeArrowheads="1"/>
          </p:cNvSpPr>
          <p:nvPr/>
        </p:nvSpPr>
        <p:spPr bwMode="gray">
          <a:xfrm>
            <a:off x="3922713" y="1827213"/>
            <a:ext cx="531812" cy="366712"/>
          </a:xfrm>
          <a:prstGeom prst="rect">
            <a:avLst/>
          </a:prstGeom>
          <a:noFill/>
          <a:ln>
            <a:noFill/>
          </a:ln>
          <a:effectLst/>
          <a:extLst>
            <a:ext uri="{909E8E84-426E-40DD-AFC4-6F175D3DCCD1}">
              <a14:hiddenFill xmlns:a14="http://schemas.microsoft.com/office/drawing/2010/main">
                <a:gradFill rotWithShape="1">
                  <a:gsLst>
                    <a:gs pos="0">
                      <a:srgbClr val="0091D2"/>
                    </a:gs>
                    <a:gs pos="100000">
                      <a:srgbClr val="0091D2">
                        <a:gamma/>
                        <a:tint val="73725"/>
                        <a:invGamma/>
                      </a:srgbClr>
                    </a:gs>
                  </a:gsLst>
                  <a:lin ang="5400000" scaled="1"/>
                </a:gradFill>
              </a14:hiddenFill>
            </a:ext>
            <a:ext uri="{91240B29-F687-4F45-9708-019B960494DF}">
              <a14:hiddenLine xmlns:a14="http://schemas.microsoft.com/office/drawing/2010/main" w="9525" algn="ctr">
                <a:solidFill>
                  <a:srgbClr val="1C1C1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a:solidFill>
                  <a:srgbClr val="FFFFFF"/>
                </a:solidFill>
                <a:latin typeface="Verdana" panose="020B0604030504040204" pitchFamily="34" charset="0"/>
                <a:ea typeface="宋体" panose="02010600030101010101" pitchFamily="2" charset="-122"/>
              </a:rPr>
              <a:t>1</a:t>
            </a:r>
          </a:p>
        </p:txBody>
      </p:sp>
      <p:sp>
        <p:nvSpPr>
          <p:cNvPr id="10247" name="AutoShape 7"/>
          <p:cNvSpPr>
            <a:spLocks noChangeArrowheads="1"/>
          </p:cNvSpPr>
          <p:nvPr/>
        </p:nvSpPr>
        <p:spPr bwMode="gray">
          <a:xfrm>
            <a:off x="4486274" y="2925486"/>
            <a:ext cx="3732804" cy="649188"/>
          </a:xfrm>
          <a:prstGeom prst="roundRect">
            <a:avLst>
              <a:gd name="adj" fmla="val 50000"/>
            </a:avLst>
          </a:prstGeom>
          <a:noFill/>
          <a:ln>
            <a:noFill/>
          </a:ln>
          <a:effectLst/>
          <a:extLst>
            <a:ext uri="{909E8E84-426E-40DD-AFC4-6F175D3DCCD1}">
              <a14:hiddenFill xmlns:a14="http://schemas.microsoft.com/office/drawing/2010/main">
                <a:solidFill>
                  <a:srgbClr val="9A2FBB"/>
                </a:solidFill>
              </a14:hiddenFill>
            </a:ext>
            <a:ext uri="{91240B29-F687-4F45-9708-019B960494DF}">
              <a14:hiddenLine xmlns:a14="http://schemas.microsoft.com/office/drawing/2010/main" w="9525">
                <a:solidFill>
                  <a:srgbClr val="1C1C1C"/>
                </a:solidFill>
                <a:miter lim="800000"/>
                <a:headEnd/>
                <a:tailEnd/>
              </a14:hiddenLine>
            </a:ext>
            <a:ext uri="{AF507438-7753-43E0-B8FC-AC1667EBCBE1}">
              <a14:hiddenEffects xmlns:a14="http://schemas.microsoft.com/office/drawing/2010/main">
                <a:effectLst>
                  <a:outerShdw dist="17961" dir="2700000" algn="ctr" rotWithShape="0">
                    <a:schemeClr val="bg1">
                      <a:alpha val="20000"/>
                    </a:schemeClr>
                  </a:outerShdw>
                </a:effectLst>
              </a14:hiddenEffects>
            </a:ext>
          </a:extLst>
        </p:spPr>
        <p:txBody>
          <a:bodyPr wrap="square">
            <a:spAutoFit/>
          </a:bodyPr>
          <a:lstStyle/>
          <a:p>
            <a:pPr>
              <a:spcBef>
                <a:spcPct val="50000"/>
              </a:spcBef>
            </a:pPr>
            <a:r>
              <a:rPr lang="en-US" altLang="zh-CN" sz="2400" dirty="0">
                <a:solidFill>
                  <a:srgbClr val="0000FF"/>
                </a:solidFill>
                <a:latin typeface="华文楷体" panose="02010600040101010101" pitchFamily="2" charset="-122"/>
                <a:ea typeface="华文楷体" panose="02010600040101010101" pitchFamily="2" charset="-122"/>
              </a:rPr>
              <a:t> </a:t>
            </a:r>
            <a:r>
              <a:rPr lang="zh-CN" altLang="en-US" sz="2400" dirty="0">
                <a:solidFill>
                  <a:srgbClr val="0000FF"/>
                </a:solidFill>
                <a:latin typeface="华文楷体" panose="02010600040101010101" pitchFamily="2" charset="-122"/>
                <a:ea typeface="华文楷体" panose="02010600040101010101" pitchFamily="2" charset="-122"/>
              </a:rPr>
              <a:t>课程设计的基本要求</a:t>
            </a:r>
          </a:p>
        </p:txBody>
      </p:sp>
      <p:sp>
        <p:nvSpPr>
          <p:cNvPr id="10249" name="Oval 9"/>
          <p:cNvSpPr>
            <a:spLocks noChangeArrowheads="1"/>
          </p:cNvSpPr>
          <p:nvPr/>
        </p:nvSpPr>
        <p:spPr bwMode="gray">
          <a:xfrm>
            <a:off x="3890964" y="2689225"/>
            <a:ext cx="600075" cy="615950"/>
          </a:xfrm>
          <a:prstGeom prst="ellipse">
            <a:avLst/>
          </a:prstGeom>
          <a:solidFill>
            <a:srgbClr val="FCA11C">
              <a:alpha val="80000"/>
            </a:srgbClr>
          </a:solidFill>
          <a:ln w="57150" algn="ctr">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0" name="Text Box 10"/>
          <p:cNvSpPr txBox="1">
            <a:spLocks noChangeArrowheads="1"/>
          </p:cNvSpPr>
          <p:nvPr/>
        </p:nvSpPr>
        <p:spPr bwMode="gray">
          <a:xfrm>
            <a:off x="3922713" y="2797176"/>
            <a:ext cx="531812" cy="366713"/>
          </a:xfrm>
          <a:prstGeom prst="rect">
            <a:avLst/>
          </a:prstGeom>
          <a:noFill/>
          <a:ln>
            <a:noFill/>
          </a:ln>
          <a:effectLst/>
          <a:extLst>
            <a:ext uri="{909E8E84-426E-40DD-AFC4-6F175D3DCCD1}">
              <a14:hiddenFill xmlns:a14="http://schemas.microsoft.com/office/drawing/2010/main">
                <a:gradFill rotWithShape="1">
                  <a:gsLst>
                    <a:gs pos="0">
                      <a:srgbClr val="0091D2"/>
                    </a:gs>
                    <a:gs pos="100000">
                      <a:srgbClr val="0091D2">
                        <a:gamma/>
                        <a:tint val="73725"/>
                        <a:invGamma/>
                      </a:srgbClr>
                    </a:gs>
                  </a:gsLst>
                  <a:lin ang="5400000" scaled="1"/>
                </a:gradFill>
              </a14:hiddenFill>
            </a:ext>
            <a:ext uri="{91240B29-F687-4F45-9708-019B960494DF}">
              <a14:hiddenLine xmlns:a14="http://schemas.microsoft.com/office/drawing/2010/main" w="9525" algn="ctr">
                <a:solidFill>
                  <a:srgbClr val="1C1C1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a:solidFill>
                  <a:srgbClr val="FFFFFF"/>
                </a:solidFill>
                <a:latin typeface="Verdana" panose="020B0604030504040204" pitchFamily="34" charset="0"/>
                <a:ea typeface="宋体" panose="02010600030101010101" pitchFamily="2" charset="-122"/>
              </a:rPr>
              <a:t>2</a:t>
            </a:r>
          </a:p>
        </p:txBody>
      </p:sp>
      <p:sp>
        <p:nvSpPr>
          <p:cNvPr id="10251" name="AutoShape 11"/>
          <p:cNvSpPr>
            <a:spLocks noChangeArrowheads="1"/>
          </p:cNvSpPr>
          <p:nvPr/>
        </p:nvSpPr>
        <p:spPr bwMode="gray">
          <a:xfrm>
            <a:off x="3922713" y="3884613"/>
            <a:ext cx="4435475" cy="598487"/>
          </a:xfrm>
          <a:prstGeom prst="roundRect">
            <a:avLst>
              <a:gd name="adj" fmla="val 50000"/>
            </a:avLst>
          </a:prstGeom>
          <a:gradFill rotWithShape="1">
            <a:gsLst>
              <a:gs pos="0">
                <a:srgbClr val="DDDDDD"/>
              </a:gs>
              <a:gs pos="50000">
                <a:srgbClr val="DDDDDD">
                  <a:gamma/>
                  <a:tint val="33725"/>
                  <a:invGamma/>
                </a:srgbClr>
              </a:gs>
              <a:gs pos="100000">
                <a:srgbClr val="DDDDDD"/>
              </a:gs>
            </a:gsLst>
            <a:lin ang="5400000" scaled="1"/>
          </a:gradFill>
          <a:ln>
            <a:noFill/>
          </a:ln>
          <a:effectLst/>
          <a:extLst>
            <a:ext uri="{91240B29-F687-4F45-9708-019B960494DF}">
              <a14:hiddenLine xmlns:a14="http://schemas.microsoft.com/office/drawing/2010/main" w="19050">
                <a:solidFill>
                  <a:srgbClr val="C0C0C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latin typeface="Times New Roman" panose="02020603050405020304" pitchFamily="18" charset="0"/>
            </a:endParaRPr>
          </a:p>
        </p:txBody>
      </p:sp>
      <p:sp>
        <p:nvSpPr>
          <p:cNvPr id="10253" name="Oval 13"/>
          <p:cNvSpPr>
            <a:spLocks noChangeArrowheads="1"/>
          </p:cNvSpPr>
          <p:nvPr/>
        </p:nvSpPr>
        <p:spPr bwMode="gray">
          <a:xfrm>
            <a:off x="3890964" y="3641725"/>
            <a:ext cx="600075" cy="615950"/>
          </a:xfrm>
          <a:prstGeom prst="ellipse">
            <a:avLst/>
          </a:prstGeom>
          <a:solidFill>
            <a:srgbClr val="9A2FBB">
              <a:alpha val="80000"/>
            </a:srgbClr>
          </a:solidFill>
          <a:ln w="57150" algn="ctr">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4" name="Text Box 14"/>
          <p:cNvSpPr txBox="1">
            <a:spLocks noChangeArrowheads="1"/>
          </p:cNvSpPr>
          <p:nvPr/>
        </p:nvSpPr>
        <p:spPr bwMode="gray">
          <a:xfrm>
            <a:off x="3922713" y="3749676"/>
            <a:ext cx="531812" cy="366713"/>
          </a:xfrm>
          <a:prstGeom prst="rect">
            <a:avLst/>
          </a:prstGeom>
          <a:noFill/>
          <a:ln>
            <a:noFill/>
          </a:ln>
          <a:effectLst/>
          <a:extLst>
            <a:ext uri="{909E8E84-426E-40DD-AFC4-6F175D3DCCD1}">
              <a14:hiddenFill xmlns:a14="http://schemas.microsoft.com/office/drawing/2010/main">
                <a:gradFill rotWithShape="1">
                  <a:gsLst>
                    <a:gs pos="0">
                      <a:srgbClr val="0091D2"/>
                    </a:gs>
                    <a:gs pos="100000">
                      <a:srgbClr val="0091D2">
                        <a:gamma/>
                        <a:tint val="73725"/>
                        <a:invGamma/>
                      </a:srgbClr>
                    </a:gs>
                  </a:gsLst>
                  <a:lin ang="5400000" scaled="1"/>
                </a:gradFill>
              </a14:hiddenFill>
            </a:ext>
            <a:ext uri="{91240B29-F687-4F45-9708-019B960494DF}">
              <a14:hiddenLine xmlns:a14="http://schemas.microsoft.com/office/drawing/2010/main" w="9525" algn="ctr">
                <a:solidFill>
                  <a:srgbClr val="1C1C1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a:solidFill>
                  <a:srgbClr val="FFFFFF"/>
                </a:solidFill>
                <a:latin typeface="Verdana" panose="020B0604030504040204" pitchFamily="34" charset="0"/>
                <a:ea typeface="宋体" panose="02010600030101010101" pitchFamily="2" charset="-122"/>
              </a:rPr>
              <a:t>3</a:t>
            </a:r>
          </a:p>
        </p:txBody>
      </p:sp>
      <p:sp>
        <p:nvSpPr>
          <p:cNvPr id="10255" name="AutoShape 15"/>
          <p:cNvSpPr>
            <a:spLocks noChangeArrowheads="1"/>
          </p:cNvSpPr>
          <p:nvPr/>
        </p:nvSpPr>
        <p:spPr bwMode="gray">
          <a:xfrm>
            <a:off x="4075113" y="4862514"/>
            <a:ext cx="4435475" cy="598487"/>
          </a:xfrm>
          <a:prstGeom prst="roundRect">
            <a:avLst>
              <a:gd name="adj" fmla="val 50000"/>
            </a:avLst>
          </a:prstGeom>
          <a:gradFill rotWithShape="1">
            <a:gsLst>
              <a:gs pos="0">
                <a:srgbClr val="DDDDDD"/>
              </a:gs>
              <a:gs pos="50000">
                <a:srgbClr val="DDDDDD">
                  <a:gamma/>
                  <a:tint val="33725"/>
                  <a:invGamma/>
                </a:srgbClr>
              </a:gs>
              <a:gs pos="100000">
                <a:srgbClr val="DDDDDD"/>
              </a:gs>
            </a:gsLst>
            <a:lin ang="5400000" scaled="1"/>
          </a:gradFill>
          <a:ln>
            <a:noFill/>
          </a:ln>
          <a:effectLst/>
          <a:extLst>
            <a:ext uri="{91240B29-F687-4F45-9708-019B960494DF}">
              <a14:hiddenLine xmlns:a14="http://schemas.microsoft.com/office/drawing/2010/main" w="19050">
                <a:solidFill>
                  <a:srgbClr val="C0C0C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7" name="Oval 17"/>
          <p:cNvSpPr>
            <a:spLocks noChangeArrowheads="1"/>
          </p:cNvSpPr>
          <p:nvPr/>
        </p:nvSpPr>
        <p:spPr bwMode="gray">
          <a:xfrm>
            <a:off x="3890964" y="4616450"/>
            <a:ext cx="600075" cy="615950"/>
          </a:xfrm>
          <a:prstGeom prst="ellipse">
            <a:avLst/>
          </a:prstGeom>
          <a:solidFill>
            <a:srgbClr val="89BC36">
              <a:alpha val="80000"/>
            </a:srgbClr>
          </a:solidFill>
          <a:ln w="57150" algn="ctr">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8" name="Text Box 18"/>
          <p:cNvSpPr txBox="1">
            <a:spLocks noChangeArrowheads="1"/>
          </p:cNvSpPr>
          <p:nvPr/>
        </p:nvSpPr>
        <p:spPr bwMode="gray">
          <a:xfrm>
            <a:off x="3922713" y="4724401"/>
            <a:ext cx="531812" cy="366713"/>
          </a:xfrm>
          <a:prstGeom prst="rect">
            <a:avLst/>
          </a:prstGeom>
          <a:noFill/>
          <a:ln>
            <a:noFill/>
          </a:ln>
          <a:effectLst/>
          <a:extLst>
            <a:ext uri="{909E8E84-426E-40DD-AFC4-6F175D3DCCD1}">
              <a14:hiddenFill xmlns:a14="http://schemas.microsoft.com/office/drawing/2010/main">
                <a:gradFill rotWithShape="1">
                  <a:gsLst>
                    <a:gs pos="0">
                      <a:srgbClr val="0091D2"/>
                    </a:gs>
                    <a:gs pos="100000">
                      <a:srgbClr val="0091D2">
                        <a:gamma/>
                        <a:tint val="73725"/>
                        <a:invGamma/>
                      </a:srgbClr>
                    </a:gs>
                  </a:gsLst>
                  <a:lin ang="5400000" scaled="1"/>
                </a:gradFill>
              </a14:hiddenFill>
            </a:ext>
            <a:ext uri="{91240B29-F687-4F45-9708-019B960494DF}">
              <a14:hiddenLine xmlns:a14="http://schemas.microsoft.com/office/drawing/2010/main" w="9525" algn="ctr">
                <a:solidFill>
                  <a:srgbClr val="1C1C1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a:solidFill>
                  <a:srgbClr val="FFFFFF"/>
                </a:solidFill>
                <a:latin typeface="Verdana" panose="020B0604030504040204" pitchFamily="34" charset="0"/>
                <a:ea typeface="宋体" panose="02010600030101010101" pitchFamily="2" charset="-122"/>
              </a:rPr>
              <a:t>4</a:t>
            </a:r>
          </a:p>
        </p:txBody>
      </p:sp>
      <p:sp>
        <p:nvSpPr>
          <p:cNvPr id="10259" name="Oval 19">
            <a:hlinkClick r:id="rId2" action="ppaction://hlinksldjump"/>
          </p:cNvPr>
          <p:cNvSpPr>
            <a:spLocks noChangeArrowheads="1"/>
          </p:cNvSpPr>
          <p:nvPr/>
        </p:nvSpPr>
        <p:spPr bwMode="gray">
          <a:xfrm>
            <a:off x="8161338" y="2068514"/>
            <a:ext cx="349250" cy="358775"/>
          </a:xfrm>
          <a:prstGeom prst="ellipse">
            <a:avLst/>
          </a:prstGeom>
          <a:solidFill>
            <a:srgbClr val="0091D2">
              <a:alpha val="80000"/>
            </a:srgbClr>
          </a:solidFill>
          <a:ln w="57150" algn="ctr">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0" name="Oval 20"/>
          <p:cNvSpPr>
            <a:spLocks noChangeArrowheads="1"/>
          </p:cNvSpPr>
          <p:nvPr/>
        </p:nvSpPr>
        <p:spPr bwMode="gray">
          <a:xfrm>
            <a:off x="8161338" y="3038476"/>
            <a:ext cx="349250" cy="358775"/>
          </a:xfrm>
          <a:prstGeom prst="ellipse">
            <a:avLst/>
          </a:prstGeom>
          <a:solidFill>
            <a:srgbClr val="FCA11C">
              <a:alpha val="80000"/>
            </a:srgbClr>
          </a:solidFill>
          <a:ln w="57150" algn="ctr">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1" name="Oval 21"/>
          <p:cNvSpPr>
            <a:spLocks noChangeArrowheads="1"/>
          </p:cNvSpPr>
          <p:nvPr/>
        </p:nvSpPr>
        <p:spPr bwMode="gray">
          <a:xfrm>
            <a:off x="8161338" y="3990976"/>
            <a:ext cx="349250" cy="358775"/>
          </a:xfrm>
          <a:prstGeom prst="ellipse">
            <a:avLst/>
          </a:prstGeom>
          <a:solidFill>
            <a:srgbClr val="9A2FBB">
              <a:alpha val="80000"/>
            </a:srgbClr>
          </a:solidFill>
          <a:ln w="57150" algn="ctr">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2" name="Oval 22"/>
          <p:cNvSpPr>
            <a:spLocks noChangeArrowheads="1"/>
          </p:cNvSpPr>
          <p:nvPr/>
        </p:nvSpPr>
        <p:spPr bwMode="gray">
          <a:xfrm>
            <a:off x="8161338" y="4965701"/>
            <a:ext cx="349250" cy="358775"/>
          </a:xfrm>
          <a:prstGeom prst="ellipse">
            <a:avLst/>
          </a:prstGeom>
          <a:solidFill>
            <a:srgbClr val="89BC36">
              <a:alpha val="80000"/>
            </a:srgbClr>
          </a:solidFill>
          <a:ln w="57150" algn="ctr">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3" name="AutoShape 23"/>
          <p:cNvSpPr>
            <a:spLocks noChangeArrowheads="1"/>
          </p:cNvSpPr>
          <p:nvPr/>
        </p:nvSpPr>
        <p:spPr bwMode="auto">
          <a:xfrm>
            <a:off x="2362200" y="1447800"/>
            <a:ext cx="8001000" cy="4800600"/>
          </a:xfrm>
          <a:prstGeom prst="roundRect">
            <a:avLst>
              <a:gd name="adj" fmla="val 4569"/>
            </a:avLst>
          </a:prstGeom>
          <a:noFill/>
          <a:ln w="28575">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AutoShape 7"/>
          <p:cNvSpPr>
            <a:spLocks noChangeArrowheads="1"/>
          </p:cNvSpPr>
          <p:nvPr/>
        </p:nvSpPr>
        <p:spPr bwMode="gray">
          <a:xfrm>
            <a:off x="4648802" y="3831055"/>
            <a:ext cx="3961798" cy="1168539"/>
          </a:xfrm>
          <a:prstGeom prst="roundRect">
            <a:avLst>
              <a:gd name="adj" fmla="val 50000"/>
            </a:avLst>
          </a:prstGeom>
          <a:noFill/>
          <a:ln>
            <a:noFill/>
          </a:ln>
          <a:effectLst/>
          <a:extLst>
            <a:ext uri="{909E8E84-426E-40DD-AFC4-6F175D3DCCD1}">
              <a14:hiddenFill xmlns:a14="http://schemas.microsoft.com/office/drawing/2010/main">
                <a:solidFill>
                  <a:srgbClr val="9A2FBB"/>
                </a:solidFill>
              </a14:hiddenFill>
            </a:ext>
            <a:ext uri="{91240B29-F687-4F45-9708-019B960494DF}">
              <a14:hiddenLine xmlns:a14="http://schemas.microsoft.com/office/drawing/2010/main" w="9525">
                <a:solidFill>
                  <a:srgbClr val="1C1C1C"/>
                </a:solidFill>
                <a:miter lim="800000"/>
                <a:headEnd/>
                <a:tailEnd/>
              </a14:hiddenLine>
            </a:ext>
            <a:ext uri="{AF507438-7753-43E0-B8FC-AC1667EBCBE1}">
              <a14:hiddenEffects xmlns:a14="http://schemas.microsoft.com/office/drawing/2010/main">
                <a:effectLst>
                  <a:outerShdw dist="17961" dir="2700000" algn="ctr" rotWithShape="0">
                    <a:schemeClr val="bg1">
                      <a:alpha val="20000"/>
                    </a:schemeClr>
                  </a:outerShdw>
                </a:effectLst>
              </a14:hiddenEffects>
            </a:ext>
          </a:extLst>
        </p:spPr>
        <p:txBody>
          <a:bodyPr wrap="square">
            <a:spAutoFit/>
          </a:bodyPr>
          <a:lstStyle/>
          <a:p>
            <a:pPr>
              <a:spcBef>
                <a:spcPct val="50000"/>
              </a:spcBef>
            </a:pPr>
            <a:r>
              <a:rPr lang="zh-CN" altLang="en-US" sz="2400" dirty="0">
                <a:solidFill>
                  <a:srgbClr val="0000FF"/>
                </a:solidFill>
                <a:latin typeface="华文楷体" panose="02010600040101010101" pitchFamily="2" charset="-122"/>
                <a:ea typeface="华文楷体" panose="02010600040101010101" pitchFamily="2" charset="-122"/>
              </a:rPr>
              <a:t>航运航运应用软件的设计安排</a:t>
            </a:r>
          </a:p>
        </p:txBody>
      </p:sp>
      <p:sp>
        <p:nvSpPr>
          <p:cNvPr id="28" name="AutoShape 7"/>
          <p:cNvSpPr>
            <a:spLocks noChangeArrowheads="1"/>
          </p:cNvSpPr>
          <p:nvPr/>
        </p:nvSpPr>
        <p:spPr bwMode="gray">
          <a:xfrm>
            <a:off x="4889830" y="4723131"/>
            <a:ext cx="2259945" cy="649188"/>
          </a:xfrm>
          <a:prstGeom prst="roundRect">
            <a:avLst>
              <a:gd name="adj" fmla="val 50000"/>
            </a:avLst>
          </a:prstGeom>
          <a:noFill/>
          <a:ln>
            <a:noFill/>
          </a:ln>
          <a:effectLst/>
          <a:extLst>
            <a:ext uri="{909E8E84-426E-40DD-AFC4-6F175D3DCCD1}">
              <a14:hiddenFill xmlns:a14="http://schemas.microsoft.com/office/drawing/2010/main">
                <a:solidFill>
                  <a:srgbClr val="9A2FBB"/>
                </a:solidFill>
              </a14:hiddenFill>
            </a:ext>
            <a:ext uri="{91240B29-F687-4F45-9708-019B960494DF}">
              <a14:hiddenLine xmlns:a14="http://schemas.microsoft.com/office/drawing/2010/main" w="9525">
                <a:solidFill>
                  <a:srgbClr val="1C1C1C"/>
                </a:solidFill>
                <a:miter lim="800000"/>
                <a:headEnd/>
                <a:tailEnd/>
              </a14:hiddenLine>
            </a:ext>
            <a:ext uri="{AF507438-7753-43E0-B8FC-AC1667EBCBE1}">
              <a14:hiddenEffects xmlns:a14="http://schemas.microsoft.com/office/drawing/2010/main">
                <a:effectLst>
                  <a:outerShdw dist="17961" dir="2700000" algn="ctr" rotWithShape="0">
                    <a:schemeClr val="bg1">
                      <a:alpha val="20000"/>
                    </a:schemeClr>
                  </a:outerShdw>
                </a:effectLst>
              </a14:hiddenEffects>
            </a:ext>
          </a:extLst>
        </p:spPr>
        <p:txBody>
          <a:bodyPr wrap="square">
            <a:spAutoFit/>
          </a:bodyPr>
          <a:lstStyle/>
          <a:p>
            <a:pPr>
              <a:spcBef>
                <a:spcPct val="50000"/>
              </a:spcBef>
            </a:pPr>
            <a:r>
              <a:rPr lang="zh-CN" altLang="en-US" sz="2400" dirty="0">
                <a:solidFill>
                  <a:srgbClr val="0000FF"/>
                </a:solidFill>
                <a:latin typeface="华文楷体" panose="02010600040101010101" pitchFamily="2" charset="-122"/>
                <a:ea typeface="华文楷体" panose="02010600040101010101" pitchFamily="2" charset="-122"/>
              </a:rPr>
              <a:t>成绩评定标准</a:t>
            </a:r>
          </a:p>
        </p:txBody>
      </p:sp>
    </p:spTree>
    <p:extLst>
      <p:ext uri="{BB962C8B-B14F-4D97-AF65-F5344CB8AC3E}">
        <p14:creationId xmlns:p14="http://schemas.microsoft.com/office/powerpoint/2010/main" val="3473288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1.</a:t>
            </a:r>
            <a:r>
              <a:rPr lang="zh-CN" altLang="en-US" dirty="0"/>
              <a:t>航运应用软件开发的目的</a:t>
            </a:r>
          </a:p>
        </p:txBody>
      </p:sp>
      <p:sp>
        <p:nvSpPr>
          <p:cNvPr id="3" name="内容占位符 2"/>
          <p:cNvSpPr>
            <a:spLocks noGrp="1"/>
          </p:cNvSpPr>
          <p:nvPr>
            <p:ph idx="1"/>
          </p:nvPr>
        </p:nvSpPr>
        <p:spPr/>
        <p:txBody>
          <a:bodyPr>
            <a:normAutofit/>
          </a:bodyPr>
          <a:lstStyle/>
          <a:p>
            <a:r>
              <a:rPr lang="zh-CN" altLang="en-US" dirty="0"/>
              <a:t>目的是帮助大学生树立正确的世界观、价值观、人生观、政治观、道德观和法制观，不断提高大学生思想道德素质和认识世界、改造世界的能力，使其成为中国特色社会主义事业的合格建设者和接班人。</a:t>
            </a:r>
            <a:endParaRPr lang="en-US" altLang="zh-CN" dirty="0"/>
          </a:p>
          <a:p>
            <a:r>
              <a:rPr lang="zh-CN" altLang="en-US" dirty="0"/>
              <a:t>该课思政教育从课程设计的过程、系统的安全性和职业道理三个方面去领悟。</a:t>
            </a:r>
            <a:endParaRPr lang="en-US" altLang="zh-CN" dirty="0"/>
          </a:p>
        </p:txBody>
      </p:sp>
      <p:pic>
        <p:nvPicPr>
          <p:cNvPr id="5" name="图片 4"/>
          <p:cNvPicPr>
            <a:picLocks noChangeAspect="1"/>
          </p:cNvPicPr>
          <p:nvPr/>
        </p:nvPicPr>
        <p:blipFill>
          <a:blip r:embed="rId2"/>
          <a:stretch>
            <a:fillRect/>
          </a:stretch>
        </p:blipFill>
        <p:spPr>
          <a:xfrm>
            <a:off x="8126081" y="4377500"/>
            <a:ext cx="3334469" cy="1419002"/>
          </a:xfrm>
          <a:prstGeom prst="rect">
            <a:avLst/>
          </a:prstGeom>
        </p:spPr>
      </p:pic>
    </p:spTree>
    <p:extLst>
      <p:ext uri="{BB962C8B-B14F-4D97-AF65-F5344CB8AC3E}">
        <p14:creationId xmlns:p14="http://schemas.microsoft.com/office/powerpoint/2010/main" val="3361678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目的</a:t>
            </a:r>
          </a:p>
        </p:txBody>
      </p:sp>
      <p:sp>
        <p:nvSpPr>
          <p:cNvPr id="3" name="内容占位符 2"/>
          <p:cNvSpPr>
            <a:spLocks noGrp="1"/>
          </p:cNvSpPr>
          <p:nvPr>
            <p:ph idx="1"/>
          </p:nvPr>
        </p:nvSpPr>
        <p:spPr/>
        <p:txBody>
          <a:bodyPr/>
          <a:lstStyle/>
          <a:p>
            <a:r>
              <a:rPr lang="zh-CN" altLang="en-US" dirty="0"/>
              <a:t>课程设计最终目的是培养计算机软件开发人才，为社会主义服务。从多个维度全方位地“把思想政治工作贯穿课程设计的全过程”。</a:t>
            </a:r>
            <a:endParaRPr lang="en-US" altLang="zh-CN" dirty="0"/>
          </a:p>
          <a:p>
            <a:r>
              <a:rPr lang="zh-CN" altLang="en-US" dirty="0"/>
              <a:t>系统的安全性、个人隐私等社会的培养。要从国家、民族的角度来考虑航运航运应用软件系统开发。特别是国家安全方面、保密方面的内容，一定要保持高度的爱国情怀。</a:t>
            </a:r>
            <a:endParaRPr lang="en-US" altLang="zh-CN" dirty="0"/>
          </a:p>
          <a:p>
            <a:r>
              <a:rPr lang="zh-CN" altLang="en-US" dirty="0"/>
              <a:t>指导学生伦理道德、社会责任感、职业道德等问题。平时一些与专业技术相关的新闻热点也可以拿来使用，如信息诈骗，教育学生不要用所学的计算机专业知识从事违法犯罪活动。</a:t>
            </a:r>
          </a:p>
        </p:txBody>
      </p:sp>
    </p:spTree>
    <p:extLst>
      <p:ext uri="{BB962C8B-B14F-4D97-AF65-F5344CB8AC3E}">
        <p14:creationId xmlns:p14="http://schemas.microsoft.com/office/powerpoint/2010/main" val="399597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目的</a:t>
            </a:r>
          </a:p>
        </p:txBody>
      </p:sp>
      <p:sp>
        <p:nvSpPr>
          <p:cNvPr id="3" name="内容占位符 2"/>
          <p:cNvSpPr>
            <a:spLocks noGrp="1"/>
          </p:cNvSpPr>
          <p:nvPr>
            <p:ph idx="1"/>
          </p:nvPr>
        </p:nvSpPr>
        <p:spPr/>
        <p:txBody>
          <a:bodyPr/>
          <a:lstStyle/>
          <a:p>
            <a:r>
              <a:rPr lang="zh-CN" altLang="en-US" dirty="0"/>
              <a:t>学习中渗透着</a:t>
            </a:r>
            <a:r>
              <a:rPr lang="zh-CN" altLang="en-US" dirty="0">
                <a:solidFill>
                  <a:srgbClr val="FF0000"/>
                </a:solidFill>
              </a:rPr>
              <a:t>大爱精神</a:t>
            </a:r>
            <a:r>
              <a:rPr lang="zh-CN" altLang="en-US" dirty="0"/>
              <a:t>的思想政治教育，以“随风潜入夜，润物细无声”的方式，走入了课程设计的课堂。</a:t>
            </a:r>
          </a:p>
        </p:txBody>
      </p:sp>
      <p:pic>
        <p:nvPicPr>
          <p:cNvPr id="4" name="图片 3"/>
          <p:cNvPicPr>
            <a:picLocks noChangeAspect="1"/>
          </p:cNvPicPr>
          <p:nvPr/>
        </p:nvPicPr>
        <p:blipFill>
          <a:blip r:embed="rId2"/>
          <a:stretch>
            <a:fillRect/>
          </a:stretch>
        </p:blipFill>
        <p:spPr>
          <a:xfrm>
            <a:off x="7125418" y="2410091"/>
            <a:ext cx="4579523" cy="2548060"/>
          </a:xfrm>
          <a:prstGeom prst="rect">
            <a:avLst/>
          </a:prstGeom>
        </p:spPr>
      </p:pic>
    </p:spTree>
    <p:extLst>
      <p:ext uri="{BB962C8B-B14F-4D97-AF65-F5344CB8AC3E}">
        <p14:creationId xmlns:p14="http://schemas.microsoft.com/office/powerpoint/2010/main" val="1267034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培养目标</a:t>
            </a:r>
          </a:p>
        </p:txBody>
      </p:sp>
      <p:sp>
        <p:nvSpPr>
          <p:cNvPr id="3" name="内容占位符 2"/>
          <p:cNvSpPr>
            <a:spLocks noGrp="1"/>
          </p:cNvSpPr>
          <p:nvPr>
            <p:ph idx="1"/>
          </p:nvPr>
        </p:nvSpPr>
        <p:spPr/>
        <p:txBody>
          <a:bodyPr/>
          <a:lstStyle/>
          <a:p>
            <a:r>
              <a:rPr lang="zh-CN" altLang="en-US" dirty="0"/>
              <a:t>培养学生运用计算机思维和航运应用软件工程方法综合分析、解决不同领域问题的能力，特别是</a:t>
            </a:r>
            <a:r>
              <a:rPr lang="zh-CN" altLang="en-US" dirty="0">
                <a:solidFill>
                  <a:srgbClr val="FF0000"/>
                </a:solidFill>
              </a:rPr>
              <a:t>航运领域</a:t>
            </a:r>
            <a:r>
              <a:rPr lang="zh-CN" altLang="en-US" dirty="0"/>
              <a:t>的问题，培养学生的工程设计能力和团队协同工作能力，使学生领会航运航运应用软件的基本思想和重要知识点，掌握航运应用软件开发的方法、技术和工具，帮助学生树立基本的航运应用软件创新</a:t>
            </a:r>
            <a:r>
              <a:rPr lang="zh-CN" altLang="en-US" b="1" dirty="0"/>
              <a:t>意识</a:t>
            </a:r>
            <a:r>
              <a:rPr lang="zh-CN" altLang="en-US" dirty="0"/>
              <a:t>，促使人才培养模式从单一学科背景下的专业教育向交叉与综合背景下的宽口径培养转变。</a:t>
            </a:r>
          </a:p>
        </p:txBody>
      </p:sp>
      <p:pic>
        <p:nvPicPr>
          <p:cNvPr id="5" name="图片 4">
            <a:hlinkClick r:id="rId2" action="ppaction://hlinksldjump"/>
          </p:cNvPr>
          <p:cNvPicPr>
            <a:picLocks noChangeAspect="1"/>
          </p:cNvPicPr>
          <p:nvPr/>
        </p:nvPicPr>
        <p:blipFill>
          <a:blip r:embed="rId3"/>
          <a:stretch>
            <a:fillRect/>
          </a:stretch>
        </p:blipFill>
        <p:spPr>
          <a:xfrm>
            <a:off x="11240456" y="6315088"/>
            <a:ext cx="963251" cy="469433"/>
          </a:xfrm>
          <a:prstGeom prst="rect">
            <a:avLst/>
          </a:prstGeom>
        </p:spPr>
      </p:pic>
      <p:pic>
        <p:nvPicPr>
          <p:cNvPr id="4" name="图片 3"/>
          <p:cNvPicPr>
            <a:picLocks noChangeAspect="1"/>
          </p:cNvPicPr>
          <p:nvPr/>
        </p:nvPicPr>
        <p:blipFill>
          <a:blip r:embed="rId4"/>
          <a:stretch>
            <a:fillRect/>
          </a:stretch>
        </p:blipFill>
        <p:spPr>
          <a:xfrm>
            <a:off x="6501306" y="4761411"/>
            <a:ext cx="4468755" cy="1889924"/>
          </a:xfrm>
          <a:prstGeom prst="rect">
            <a:avLst/>
          </a:prstGeom>
        </p:spPr>
      </p:pic>
    </p:spTree>
    <p:extLst>
      <p:ext uri="{BB962C8B-B14F-4D97-AF65-F5344CB8AC3E}">
        <p14:creationId xmlns:p14="http://schemas.microsoft.com/office/powerpoint/2010/main" val="2084994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4672" y="-94892"/>
            <a:ext cx="11645660" cy="951769"/>
          </a:xfrm>
        </p:spPr>
        <p:txBody>
          <a:bodyPr>
            <a:normAutofit/>
          </a:bodyPr>
          <a:lstStyle/>
          <a:p>
            <a:r>
              <a:rPr lang="en-US" altLang="zh-CN" dirty="0"/>
              <a:t>2.</a:t>
            </a:r>
            <a:r>
              <a:rPr lang="zh-CN" altLang="en-US" dirty="0"/>
              <a:t>课程设计的基本要求</a:t>
            </a:r>
          </a:p>
        </p:txBody>
      </p:sp>
      <p:sp>
        <p:nvSpPr>
          <p:cNvPr id="3" name="内容占位符 2"/>
          <p:cNvSpPr>
            <a:spLocks noGrp="1"/>
          </p:cNvSpPr>
          <p:nvPr>
            <p:ph idx="1"/>
          </p:nvPr>
        </p:nvSpPr>
        <p:spPr>
          <a:xfrm>
            <a:off x="284673" y="1035170"/>
            <a:ext cx="11067689" cy="5020573"/>
          </a:xfrm>
        </p:spPr>
        <p:txBody>
          <a:bodyPr>
            <a:normAutofit/>
          </a:bodyPr>
          <a:lstStyle/>
          <a:p>
            <a:r>
              <a:rPr lang="zh-CN" altLang="en-US" dirty="0"/>
              <a:t>航运应用软件开发课程设计是计算机专业的一门专业实践课程。本设计是结合当今主导的软件开发技术，如，</a:t>
            </a:r>
            <a:r>
              <a:rPr lang="en-US" altLang="zh-CN" dirty="0"/>
              <a:t>.NET</a:t>
            </a:r>
            <a:r>
              <a:rPr lang="zh-CN" altLang="en-US" dirty="0"/>
              <a:t>框架结构设计、</a:t>
            </a:r>
            <a:r>
              <a:rPr lang="en-US" altLang="zh-CN" dirty="0"/>
              <a:t>J2EE</a:t>
            </a:r>
            <a:r>
              <a:rPr lang="zh-CN" altLang="en-US" dirty="0"/>
              <a:t>构架程序设计、</a:t>
            </a:r>
            <a:r>
              <a:rPr lang="en-US" altLang="zh-CN" dirty="0"/>
              <a:t>Python</a:t>
            </a:r>
            <a:r>
              <a:rPr lang="zh-CN" altLang="en-US" dirty="0"/>
              <a:t>程序设计，</a:t>
            </a:r>
            <a:r>
              <a:rPr lang="en-US" altLang="zh-CN" dirty="0"/>
              <a:t>APP</a:t>
            </a:r>
            <a:r>
              <a:rPr lang="zh-CN" altLang="en-US" dirty="0"/>
              <a:t>设计等内容，开发当前流行的航运应用软件系统的一门实践教学课程。</a:t>
            </a:r>
          </a:p>
        </p:txBody>
      </p:sp>
      <p:graphicFrame>
        <p:nvGraphicFramePr>
          <p:cNvPr id="8" name="对象 7"/>
          <p:cNvGraphicFramePr>
            <a:graphicFrameLocks noChangeAspect="1"/>
          </p:cNvGraphicFramePr>
          <p:nvPr>
            <p:extLst>
              <p:ext uri="{D42A27DB-BD31-4B8C-83A1-F6EECF244321}">
                <p14:modId xmlns:p14="http://schemas.microsoft.com/office/powerpoint/2010/main" val="2875160141"/>
              </p:ext>
            </p:extLst>
          </p:nvPr>
        </p:nvGraphicFramePr>
        <p:xfrm>
          <a:off x="7842974" y="3777276"/>
          <a:ext cx="3658763" cy="2673814"/>
        </p:xfrm>
        <a:graphic>
          <a:graphicData uri="http://schemas.openxmlformats.org/presentationml/2006/ole">
            <mc:AlternateContent xmlns:mc="http://schemas.openxmlformats.org/markup-compatibility/2006">
              <mc:Choice xmlns:v="urn:schemas-microsoft-com:vml" Requires="v">
                <p:oleObj name="Image" r:id="rId2" imgW="6552360" imgH="4787280" progId="Photoshop.Image.15">
                  <p:embed/>
                </p:oleObj>
              </mc:Choice>
              <mc:Fallback>
                <p:oleObj name="Image" r:id="rId2" imgW="6552360" imgH="4787280" progId="Photoshop.Image.15">
                  <p:embed/>
                  <p:pic>
                    <p:nvPicPr>
                      <p:cNvPr id="0" name=""/>
                      <p:cNvPicPr/>
                      <p:nvPr/>
                    </p:nvPicPr>
                    <p:blipFill>
                      <a:blip r:embed="rId3"/>
                      <a:stretch>
                        <a:fillRect/>
                      </a:stretch>
                    </p:blipFill>
                    <p:spPr>
                      <a:xfrm>
                        <a:off x="7842974" y="3777276"/>
                        <a:ext cx="3658763" cy="2673814"/>
                      </a:xfrm>
                      <a:prstGeom prst="rect">
                        <a:avLst/>
                      </a:prstGeom>
                    </p:spPr>
                  </p:pic>
                </p:oleObj>
              </mc:Fallback>
            </mc:AlternateContent>
          </a:graphicData>
        </a:graphic>
      </p:graphicFrame>
    </p:spTree>
    <p:extLst>
      <p:ext uri="{BB962C8B-B14F-4D97-AF65-F5344CB8AC3E}">
        <p14:creationId xmlns:p14="http://schemas.microsoft.com/office/powerpoint/2010/main" val="3597141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课程设计的基本要求</a:t>
            </a:r>
          </a:p>
        </p:txBody>
      </p:sp>
      <p:sp>
        <p:nvSpPr>
          <p:cNvPr id="3" name="内容占位符 2"/>
          <p:cNvSpPr>
            <a:spLocks noGrp="1"/>
          </p:cNvSpPr>
          <p:nvPr>
            <p:ph idx="1"/>
          </p:nvPr>
        </p:nvSpPr>
        <p:spPr/>
        <p:txBody>
          <a:bodyPr/>
          <a:lstStyle/>
          <a:p>
            <a:r>
              <a:rPr lang="zh-CN" altLang="en-US" dirty="0"/>
              <a:t>通过本课程设计让学生了解当前比较流行的</a:t>
            </a:r>
            <a:r>
              <a:rPr lang="en-US" altLang="zh-CN" dirty="0"/>
              <a:t>Web</a:t>
            </a:r>
            <a:r>
              <a:rPr lang="zh-CN" altLang="en-US" dirty="0"/>
              <a:t>系统，</a:t>
            </a:r>
            <a:r>
              <a:rPr lang="en-US" altLang="zh-CN" dirty="0"/>
              <a:t>APP</a:t>
            </a:r>
            <a:r>
              <a:rPr lang="zh-CN" altLang="en-US" dirty="0"/>
              <a:t>系统的开发流程。培养学生分析、解决问题的能力，提高学生的实际动手能力和创新能力。在面向对象技术、数据库、软件工程和计算机算法等课程理论教学的基础上，完成一个功能较完整的航运应用软件系统。</a:t>
            </a:r>
          </a:p>
        </p:txBody>
      </p:sp>
      <p:pic>
        <p:nvPicPr>
          <p:cNvPr id="4" name="图片 3"/>
          <p:cNvPicPr>
            <a:picLocks noChangeAspect="1"/>
          </p:cNvPicPr>
          <p:nvPr/>
        </p:nvPicPr>
        <p:blipFill>
          <a:blip r:embed="rId2"/>
          <a:stretch>
            <a:fillRect/>
          </a:stretch>
        </p:blipFill>
        <p:spPr>
          <a:xfrm>
            <a:off x="659756" y="3858111"/>
            <a:ext cx="6376473" cy="2620326"/>
          </a:xfrm>
          <a:prstGeom prst="rect">
            <a:avLst/>
          </a:prstGeom>
        </p:spPr>
      </p:pic>
      <p:graphicFrame>
        <p:nvGraphicFramePr>
          <p:cNvPr id="6" name="对象 5"/>
          <p:cNvGraphicFramePr>
            <a:graphicFrameLocks noChangeAspect="1"/>
          </p:cNvGraphicFramePr>
          <p:nvPr>
            <p:extLst>
              <p:ext uri="{D42A27DB-BD31-4B8C-83A1-F6EECF244321}">
                <p14:modId xmlns:p14="http://schemas.microsoft.com/office/powerpoint/2010/main" val="30154294"/>
              </p:ext>
            </p:extLst>
          </p:nvPr>
        </p:nvGraphicFramePr>
        <p:xfrm>
          <a:off x="8220356" y="4088920"/>
          <a:ext cx="2943393" cy="1970268"/>
        </p:xfrm>
        <a:graphic>
          <a:graphicData uri="http://schemas.openxmlformats.org/presentationml/2006/ole">
            <mc:AlternateContent xmlns:mc="http://schemas.openxmlformats.org/markup-compatibility/2006">
              <mc:Choice xmlns:v="urn:schemas-microsoft-com:vml" Requires="v">
                <p:oleObj name="Image" r:id="rId3" imgW="6031440" imgH="4037760" progId="Photoshop.Image.15">
                  <p:embed/>
                </p:oleObj>
              </mc:Choice>
              <mc:Fallback>
                <p:oleObj name="Image" r:id="rId3" imgW="6031440" imgH="4037760" progId="Photoshop.Image.15">
                  <p:embed/>
                  <p:pic>
                    <p:nvPicPr>
                      <p:cNvPr id="0" name=""/>
                      <p:cNvPicPr/>
                      <p:nvPr/>
                    </p:nvPicPr>
                    <p:blipFill>
                      <a:blip r:embed="rId4"/>
                      <a:stretch>
                        <a:fillRect/>
                      </a:stretch>
                    </p:blipFill>
                    <p:spPr>
                      <a:xfrm>
                        <a:off x="8220356" y="4088920"/>
                        <a:ext cx="2943393" cy="1970268"/>
                      </a:xfrm>
                      <a:prstGeom prst="rect">
                        <a:avLst/>
                      </a:prstGeom>
                    </p:spPr>
                  </p:pic>
                </p:oleObj>
              </mc:Fallback>
            </mc:AlternateContent>
          </a:graphicData>
        </a:graphic>
      </p:graphicFrame>
    </p:spTree>
    <p:extLst>
      <p:ext uri="{BB962C8B-B14F-4D97-AF65-F5344CB8AC3E}">
        <p14:creationId xmlns:p14="http://schemas.microsoft.com/office/powerpoint/2010/main" val="2452529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开发的要求</a:t>
            </a:r>
          </a:p>
        </p:txBody>
      </p:sp>
      <p:sp>
        <p:nvSpPr>
          <p:cNvPr id="3" name="内容占位符 2"/>
          <p:cNvSpPr>
            <a:spLocks noGrp="1"/>
          </p:cNvSpPr>
          <p:nvPr>
            <p:ph idx="1"/>
          </p:nvPr>
        </p:nvSpPr>
        <p:spPr/>
        <p:txBody>
          <a:bodyPr/>
          <a:lstStyle/>
          <a:p>
            <a:r>
              <a:rPr lang="zh-CN" altLang="en-US" dirty="0"/>
              <a:t>从用户的角度出发进行目标初步设计（系统到达什么要求，完成什么功能）；</a:t>
            </a:r>
          </a:p>
          <a:p>
            <a:r>
              <a:rPr lang="zh-CN" altLang="en-US" dirty="0"/>
              <a:t>系统的功能分析与设计（功能模块的划分）；</a:t>
            </a:r>
          </a:p>
          <a:p>
            <a:r>
              <a:rPr lang="zh-CN" altLang="en-US" dirty="0"/>
              <a:t>系统的界面设计，包括整体效果、主界面、各个模块界面的设计；</a:t>
            </a:r>
          </a:p>
          <a:p>
            <a:r>
              <a:rPr lang="zh-CN" altLang="en-US" dirty="0"/>
              <a:t>后台数据库的设计</a:t>
            </a:r>
            <a:endParaRPr lang="en-US" altLang="zh-CN" dirty="0"/>
          </a:p>
          <a:p>
            <a:r>
              <a:rPr lang="zh-CN" altLang="en-US" dirty="0"/>
              <a:t>系统的整合、测试；</a:t>
            </a:r>
          </a:p>
          <a:p>
            <a:r>
              <a:rPr lang="zh-CN" altLang="en-US" dirty="0"/>
              <a:t>根据设计结果最终完善并定期更新。</a:t>
            </a:r>
          </a:p>
        </p:txBody>
      </p:sp>
    </p:spTree>
    <p:extLst>
      <p:ext uri="{BB962C8B-B14F-4D97-AF65-F5344CB8AC3E}">
        <p14:creationId xmlns:p14="http://schemas.microsoft.com/office/powerpoint/2010/main" val="2392899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课程设计要求</a:t>
            </a:r>
          </a:p>
        </p:txBody>
      </p:sp>
      <p:sp>
        <p:nvSpPr>
          <p:cNvPr id="3" name="内容占位符 2"/>
          <p:cNvSpPr>
            <a:spLocks noGrp="1"/>
          </p:cNvSpPr>
          <p:nvPr>
            <p:ph idx="1"/>
          </p:nvPr>
        </p:nvSpPr>
        <p:spPr/>
        <p:txBody>
          <a:bodyPr/>
          <a:lstStyle/>
          <a:p>
            <a:r>
              <a:rPr lang="zh-CN" altLang="en-US" dirty="0"/>
              <a:t>（</a:t>
            </a:r>
            <a:r>
              <a:rPr lang="en-US" altLang="zh-CN" dirty="0"/>
              <a:t>1</a:t>
            </a:r>
            <a:r>
              <a:rPr lang="zh-CN" altLang="en-US" dirty="0"/>
              <a:t>）系统培养团队合作精神，建议每</a:t>
            </a:r>
            <a:r>
              <a:rPr lang="en-US" altLang="zh-CN" dirty="0"/>
              <a:t>3~4</a:t>
            </a:r>
            <a:r>
              <a:rPr lang="zh-CN" altLang="en-US" dirty="0"/>
              <a:t>人一组，每组不能超过</a:t>
            </a:r>
            <a:r>
              <a:rPr lang="en-US" altLang="zh-CN" dirty="0"/>
              <a:t>4</a:t>
            </a:r>
            <a:r>
              <a:rPr lang="zh-CN" altLang="en-US" dirty="0"/>
              <a:t>人。</a:t>
            </a:r>
          </a:p>
          <a:p>
            <a:r>
              <a:rPr lang="zh-CN" altLang="en-US" dirty="0"/>
              <a:t>（</a:t>
            </a:r>
            <a:r>
              <a:rPr lang="en-US" altLang="zh-CN" dirty="0"/>
              <a:t>2</a:t>
            </a:r>
            <a:r>
              <a:rPr lang="zh-CN" altLang="en-US" dirty="0"/>
              <a:t>）每组要求独立完成，每人工作明确、与小组要团结合作。</a:t>
            </a:r>
          </a:p>
          <a:p>
            <a:r>
              <a:rPr lang="zh-CN" altLang="en-US" dirty="0"/>
              <a:t>（</a:t>
            </a:r>
            <a:r>
              <a:rPr lang="en-US" altLang="zh-CN" dirty="0"/>
              <a:t>3</a:t>
            </a:r>
            <a:r>
              <a:rPr lang="zh-CN" altLang="en-US" dirty="0"/>
              <a:t>）软件系统功能要完善，设计要合理，有实用性。</a:t>
            </a:r>
          </a:p>
          <a:p>
            <a:r>
              <a:rPr lang="zh-CN" altLang="en-US" dirty="0"/>
              <a:t>（</a:t>
            </a:r>
            <a:r>
              <a:rPr lang="en-US" altLang="zh-CN" dirty="0"/>
              <a:t>4</a:t>
            </a:r>
            <a:r>
              <a:rPr lang="zh-CN" altLang="en-US" dirty="0"/>
              <a:t>）建议有创新点。</a:t>
            </a:r>
          </a:p>
          <a:p>
            <a:endParaRPr lang="zh-CN" altLang="en-US" dirty="0"/>
          </a:p>
        </p:txBody>
      </p:sp>
    </p:spTree>
    <p:extLst>
      <p:ext uri="{BB962C8B-B14F-4D97-AF65-F5344CB8AC3E}">
        <p14:creationId xmlns:p14="http://schemas.microsoft.com/office/powerpoint/2010/main" val="2516817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参考题目</a:t>
            </a:r>
          </a:p>
        </p:txBody>
      </p:sp>
      <p:sp>
        <p:nvSpPr>
          <p:cNvPr id="3" name="内容占位符 2"/>
          <p:cNvSpPr>
            <a:spLocks noGrp="1"/>
          </p:cNvSpPr>
          <p:nvPr>
            <p:ph idx="1"/>
          </p:nvPr>
        </p:nvSpPr>
        <p:spPr/>
        <p:txBody>
          <a:bodyPr>
            <a:normAutofit/>
          </a:bodyPr>
          <a:lstStyle/>
          <a:p>
            <a:r>
              <a:rPr lang="zh-CN" altLang="en-US" dirty="0"/>
              <a:t>航运应用软件开发课程设计的题目由各组自己定义，教师审核。</a:t>
            </a:r>
          </a:p>
          <a:p>
            <a:r>
              <a:rPr lang="zh-CN" altLang="en-US" dirty="0"/>
              <a:t>下面题目可以参考：</a:t>
            </a:r>
          </a:p>
          <a:p>
            <a:pPr lvl="1">
              <a:buClr>
                <a:srgbClr val="006600"/>
              </a:buClr>
            </a:pPr>
            <a:r>
              <a:rPr lang="zh-CN" altLang="en-US" dirty="0"/>
              <a:t>（</a:t>
            </a:r>
            <a:r>
              <a:rPr lang="en-US" altLang="zh-CN" dirty="0"/>
              <a:t>1</a:t>
            </a:r>
            <a:r>
              <a:rPr lang="zh-CN" altLang="en-US" dirty="0"/>
              <a:t>）	港口作业调度系统</a:t>
            </a:r>
          </a:p>
          <a:p>
            <a:pPr lvl="1">
              <a:buClr>
                <a:srgbClr val="006600"/>
              </a:buClr>
            </a:pPr>
            <a:r>
              <a:rPr lang="zh-CN" altLang="en-US" dirty="0"/>
              <a:t>（</a:t>
            </a:r>
            <a:r>
              <a:rPr lang="en-US" altLang="zh-CN" dirty="0"/>
              <a:t>2</a:t>
            </a:r>
            <a:r>
              <a:rPr lang="zh-CN" altLang="en-US" dirty="0"/>
              <a:t>）	航运公司管理系统</a:t>
            </a:r>
          </a:p>
          <a:p>
            <a:pPr lvl="1">
              <a:buClr>
                <a:srgbClr val="006600"/>
              </a:buClr>
            </a:pPr>
            <a:r>
              <a:rPr lang="zh-CN" altLang="en-US" dirty="0"/>
              <a:t>（</a:t>
            </a:r>
            <a:r>
              <a:rPr lang="en-US" altLang="zh-CN" dirty="0"/>
              <a:t>3</a:t>
            </a:r>
            <a:r>
              <a:rPr lang="zh-CN" altLang="en-US" dirty="0"/>
              <a:t>）	港口物流分配系统</a:t>
            </a:r>
          </a:p>
          <a:p>
            <a:pPr lvl="1">
              <a:buClr>
                <a:srgbClr val="006600"/>
              </a:buClr>
            </a:pPr>
            <a:r>
              <a:rPr lang="zh-CN" altLang="en-US" dirty="0"/>
              <a:t>（</a:t>
            </a:r>
            <a:r>
              <a:rPr lang="en-US" altLang="zh-CN" dirty="0"/>
              <a:t>4</a:t>
            </a:r>
            <a:r>
              <a:rPr lang="zh-CN" altLang="en-US" dirty="0"/>
              <a:t>）	航运企业客户关系系统</a:t>
            </a:r>
          </a:p>
          <a:p>
            <a:pPr lvl="1">
              <a:buClr>
                <a:srgbClr val="006600"/>
              </a:buClr>
            </a:pPr>
            <a:r>
              <a:rPr lang="zh-CN" altLang="en-US" dirty="0"/>
              <a:t>（</a:t>
            </a:r>
            <a:r>
              <a:rPr lang="en-US" altLang="zh-CN" dirty="0"/>
              <a:t>5</a:t>
            </a:r>
            <a:r>
              <a:rPr lang="zh-CN" altLang="en-US" dirty="0"/>
              <a:t>）	基于</a:t>
            </a:r>
            <a:r>
              <a:rPr lang="en-US" altLang="zh-CN" dirty="0"/>
              <a:t>LSTM/Transformer</a:t>
            </a:r>
            <a:r>
              <a:rPr lang="zh-CN" altLang="en-US"/>
              <a:t>的集装箱运价预测模型‌</a:t>
            </a:r>
            <a:endParaRPr lang="zh-CN" altLang="en-US" dirty="0"/>
          </a:p>
        </p:txBody>
      </p:sp>
      <p:pic>
        <p:nvPicPr>
          <p:cNvPr id="4" name="图片 3">
            <a:hlinkClick r:id="rId2" action="ppaction://hlinksldjump"/>
          </p:cNvPr>
          <p:cNvPicPr>
            <a:picLocks noChangeAspect="1"/>
          </p:cNvPicPr>
          <p:nvPr/>
        </p:nvPicPr>
        <p:blipFill>
          <a:blip r:embed="rId3"/>
          <a:stretch>
            <a:fillRect/>
          </a:stretch>
        </p:blipFill>
        <p:spPr>
          <a:xfrm>
            <a:off x="11021920" y="6315088"/>
            <a:ext cx="963251" cy="469433"/>
          </a:xfrm>
          <a:prstGeom prst="rect">
            <a:avLst/>
          </a:prstGeom>
        </p:spPr>
      </p:pic>
    </p:spTree>
    <p:extLst>
      <p:ext uri="{BB962C8B-B14F-4D97-AF65-F5344CB8AC3E}">
        <p14:creationId xmlns:p14="http://schemas.microsoft.com/office/powerpoint/2010/main" val="1818822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u-ZA" altLang="zh-CN" dirty="0"/>
              <a:t>3.</a:t>
            </a:r>
            <a:r>
              <a:rPr lang="zh-CN" altLang="en-US" dirty="0"/>
              <a:t>航运应用软件的设计安排</a:t>
            </a:r>
          </a:p>
        </p:txBody>
      </p:sp>
      <p:sp>
        <p:nvSpPr>
          <p:cNvPr id="3" name="内容占位符 2"/>
          <p:cNvSpPr>
            <a:spLocks noGrp="1"/>
          </p:cNvSpPr>
          <p:nvPr>
            <p:ph idx="1"/>
          </p:nvPr>
        </p:nvSpPr>
        <p:spPr>
          <a:xfrm>
            <a:off x="176892" y="908591"/>
            <a:ext cx="11442889" cy="5664737"/>
          </a:xfrm>
        </p:spPr>
        <p:txBody>
          <a:bodyPr/>
          <a:lstStyle/>
          <a:p>
            <a:r>
              <a:rPr lang="zh-CN" altLang="en-US" dirty="0"/>
              <a:t>第三周 ：布置任务。</a:t>
            </a:r>
            <a:endParaRPr lang="en-US" altLang="zh-CN" dirty="0"/>
          </a:p>
          <a:p>
            <a:pPr lvl="1"/>
            <a:r>
              <a:rPr lang="en-US" altLang="zh-CN" dirty="0"/>
              <a:t> </a:t>
            </a:r>
            <a:r>
              <a:rPr lang="zh-CN" altLang="en-US" dirty="0"/>
              <a:t>购买课程设计资料袋</a:t>
            </a:r>
            <a:endParaRPr lang="en-US" altLang="zh-CN" dirty="0"/>
          </a:p>
          <a:p>
            <a:pPr lvl="1"/>
            <a:r>
              <a:rPr lang="en-US" altLang="zh-CN" dirty="0"/>
              <a:t> </a:t>
            </a:r>
            <a:r>
              <a:rPr lang="zh-CN" altLang="en-US" dirty="0"/>
              <a:t>分组的确定</a:t>
            </a:r>
            <a:endParaRPr lang="en-US" altLang="zh-CN" dirty="0"/>
          </a:p>
          <a:p>
            <a:pPr lvl="1"/>
            <a:r>
              <a:rPr lang="en-US" altLang="zh-CN" dirty="0"/>
              <a:t> </a:t>
            </a:r>
            <a:r>
              <a:rPr lang="zh-CN" altLang="en-US" dirty="0"/>
              <a:t>每组题目的确定</a:t>
            </a:r>
            <a:endParaRPr lang="en-US" altLang="zh-CN" dirty="0"/>
          </a:p>
          <a:p>
            <a:pPr lvl="1"/>
            <a:r>
              <a:rPr lang="en-US" altLang="zh-CN" dirty="0"/>
              <a:t> </a:t>
            </a:r>
            <a:r>
              <a:rPr lang="zh-CN" altLang="en-US" dirty="0"/>
              <a:t>书写资料袋中的内容</a:t>
            </a:r>
            <a:r>
              <a:rPr lang="en-US" altLang="zh-CN" dirty="0"/>
              <a:t> </a:t>
            </a:r>
            <a:endParaRPr lang="zh-CN" altLang="en-US" dirty="0"/>
          </a:p>
        </p:txBody>
      </p:sp>
    </p:spTree>
    <p:extLst>
      <p:ext uri="{BB962C8B-B14F-4D97-AF65-F5344CB8AC3E}">
        <p14:creationId xmlns:p14="http://schemas.microsoft.com/office/powerpoint/2010/main" val="57086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航运应用软件的设计安排</a:t>
            </a:r>
          </a:p>
        </p:txBody>
      </p:sp>
      <p:sp>
        <p:nvSpPr>
          <p:cNvPr id="3" name="内容占位符 2"/>
          <p:cNvSpPr>
            <a:spLocks noGrp="1"/>
          </p:cNvSpPr>
          <p:nvPr>
            <p:ph idx="1"/>
          </p:nvPr>
        </p:nvSpPr>
        <p:spPr/>
        <p:txBody>
          <a:bodyPr/>
          <a:lstStyle/>
          <a:p>
            <a:r>
              <a:rPr lang="zh-CN" altLang="en-US" dirty="0"/>
              <a:t>第四周 </a:t>
            </a:r>
            <a:r>
              <a:rPr lang="en-US" altLang="zh-CN" dirty="0"/>
              <a:t>~</a:t>
            </a:r>
            <a:r>
              <a:rPr lang="zh-CN" altLang="en-US" dirty="0"/>
              <a:t>第九周：航运应用软件的开发。</a:t>
            </a:r>
            <a:endParaRPr lang="en-US" altLang="zh-CN" dirty="0"/>
          </a:p>
          <a:p>
            <a:pPr lvl="1">
              <a:buClr>
                <a:srgbClr val="006600"/>
              </a:buClr>
            </a:pPr>
            <a:r>
              <a:rPr lang="en-US" altLang="zh-CN" dirty="0"/>
              <a:t> ****</a:t>
            </a:r>
            <a:r>
              <a:rPr lang="zh-CN" altLang="en-US" dirty="0"/>
              <a:t>系统需求分析</a:t>
            </a:r>
            <a:endParaRPr lang="en-US" altLang="zh-CN" dirty="0"/>
          </a:p>
          <a:p>
            <a:pPr lvl="1">
              <a:buClr>
                <a:srgbClr val="006600"/>
              </a:buClr>
            </a:pPr>
            <a:r>
              <a:rPr lang="en-US" altLang="zh-CN" dirty="0"/>
              <a:t> ****</a:t>
            </a:r>
            <a:r>
              <a:rPr lang="zh-CN" altLang="en-US" dirty="0"/>
              <a:t>系统总体设计</a:t>
            </a:r>
            <a:endParaRPr lang="en-US" altLang="zh-CN" dirty="0"/>
          </a:p>
          <a:p>
            <a:pPr lvl="1">
              <a:buClr>
                <a:srgbClr val="006600"/>
              </a:buClr>
            </a:pPr>
            <a:r>
              <a:rPr lang="en-US" altLang="zh-CN" dirty="0"/>
              <a:t> ****</a:t>
            </a:r>
            <a:r>
              <a:rPr lang="zh-CN" altLang="en-US" dirty="0"/>
              <a:t>系统详细设计</a:t>
            </a:r>
            <a:endParaRPr lang="en-US" altLang="zh-CN" dirty="0"/>
          </a:p>
          <a:p>
            <a:pPr lvl="1">
              <a:buClr>
                <a:srgbClr val="006600"/>
              </a:buClr>
            </a:pPr>
            <a:r>
              <a:rPr lang="en-US" altLang="zh-CN" dirty="0"/>
              <a:t> *****</a:t>
            </a:r>
            <a:r>
              <a:rPr lang="zh-CN" altLang="en-US" dirty="0"/>
              <a:t>系统实现和测试</a:t>
            </a:r>
            <a:endParaRPr lang="en-US" altLang="zh-CN" dirty="0"/>
          </a:p>
          <a:p>
            <a:pPr lvl="1">
              <a:buClr>
                <a:srgbClr val="006600"/>
              </a:buClr>
            </a:pPr>
            <a:endParaRPr lang="zh-CN" altLang="en-US" dirty="0"/>
          </a:p>
          <a:p>
            <a:endParaRPr lang="zh-CN" altLang="en-US" dirty="0"/>
          </a:p>
        </p:txBody>
      </p:sp>
    </p:spTree>
    <p:extLst>
      <p:ext uri="{BB962C8B-B14F-4D97-AF65-F5344CB8AC3E}">
        <p14:creationId xmlns:p14="http://schemas.microsoft.com/office/powerpoint/2010/main" val="3159862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航运应用软件的设计安排</a:t>
            </a:r>
          </a:p>
        </p:txBody>
      </p:sp>
      <p:sp>
        <p:nvSpPr>
          <p:cNvPr id="3" name="内容占位符 2"/>
          <p:cNvSpPr>
            <a:spLocks noGrp="1"/>
          </p:cNvSpPr>
          <p:nvPr>
            <p:ph idx="1"/>
          </p:nvPr>
        </p:nvSpPr>
        <p:spPr>
          <a:xfrm>
            <a:off x="177199" y="908591"/>
            <a:ext cx="11838215" cy="5875930"/>
          </a:xfrm>
        </p:spPr>
        <p:txBody>
          <a:bodyPr/>
          <a:lstStyle/>
          <a:p>
            <a:r>
              <a:rPr lang="zh-CN" altLang="en-US" dirty="0"/>
              <a:t>第</a:t>
            </a:r>
            <a:r>
              <a:rPr lang="en-US" altLang="zh-CN" dirty="0"/>
              <a:t>10</a:t>
            </a:r>
            <a:r>
              <a:rPr lang="zh-CN" altLang="en-US" dirty="0"/>
              <a:t>周</a:t>
            </a:r>
            <a:r>
              <a:rPr lang="en-US" altLang="zh-CN" dirty="0"/>
              <a:t>~15</a:t>
            </a:r>
            <a:r>
              <a:rPr lang="zh-CN" altLang="en-US" dirty="0"/>
              <a:t>周 程序检查与答辩</a:t>
            </a:r>
            <a:endParaRPr lang="en-US" altLang="zh-CN" dirty="0"/>
          </a:p>
          <a:p>
            <a:pPr lvl="1">
              <a:buClr>
                <a:srgbClr val="006600"/>
              </a:buClr>
            </a:pPr>
            <a:r>
              <a:rPr lang="en-US" altLang="zh-CN" dirty="0"/>
              <a:t> </a:t>
            </a:r>
            <a:r>
              <a:rPr lang="zh-CN" altLang="en-US" dirty="0"/>
              <a:t>程序检查，由于同学们的上课时间不确定性，可以灵活的确定程序检查与答辩。</a:t>
            </a:r>
            <a:endParaRPr lang="en-US" altLang="zh-CN" dirty="0"/>
          </a:p>
          <a:p>
            <a:pPr lvl="1">
              <a:buClr>
                <a:srgbClr val="006600"/>
              </a:buClr>
            </a:pPr>
            <a:r>
              <a:rPr lang="en-US" altLang="zh-CN" dirty="0"/>
              <a:t> </a:t>
            </a:r>
            <a:r>
              <a:rPr lang="zh-CN" altLang="en-US" dirty="0"/>
              <a:t>答辩结束后，需要交课程设计的材料（包括： 资料袋（内含</a:t>
            </a:r>
            <a:r>
              <a:rPr lang="en-US" altLang="zh-CN" dirty="0"/>
              <a:t>5</a:t>
            </a:r>
            <a:r>
              <a:rPr lang="zh-CN" altLang="en-US" dirty="0"/>
              <a:t>张蓝色的纸头，需要填写完整）、打印的文稿、光盘（</a:t>
            </a:r>
            <a:r>
              <a:rPr lang="en-US" altLang="zh-CN" dirty="0"/>
              <a:t> word</a:t>
            </a:r>
            <a:r>
              <a:rPr lang="zh-CN" altLang="en-US" dirty="0"/>
              <a:t>版技术文档和源程序代码、光盘上写自己名字和学号））</a:t>
            </a:r>
          </a:p>
        </p:txBody>
      </p:sp>
      <p:pic>
        <p:nvPicPr>
          <p:cNvPr id="4" name="图片 3">
            <a:hlinkClick r:id="rId3" action="ppaction://hlinksldjump"/>
          </p:cNvPr>
          <p:cNvPicPr>
            <a:picLocks noChangeAspect="1"/>
          </p:cNvPicPr>
          <p:nvPr/>
        </p:nvPicPr>
        <p:blipFill>
          <a:blip r:embed="rId4"/>
          <a:stretch>
            <a:fillRect/>
          </a:stretch>
        </p:blipFill>
        <p:spPr>
          <a:xfrm>
            <a:off x="11228749" y="6315088"/>
            <a:ext cx="963251" cy="469433"/>
          </a:xfrm>
          <a:prstGeom prst="rect">
            <a:avLst/>
          </a:prstGeom>
        </p:spPr>
      </p:pic>
    </p:spTree>
    <p:extLst>
      <p:ext uri="{BB962C8B-B14F-4D97-AF65-F5344CB8AC3E}">
        <p14:creationId xmlns:p14="http://schemas.microsoft.com/office/powerpoint/2010/main" val="755963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a:t>
            </a:r>
            <a:r>
              <a:rPr lang="zh-CN" altLang="en-US" dirty="0"/>
              <a:t>成绩评定标准</a:t>
            </a:r>
          </a:p>
        </p:txBody>
      </p:sp>
      <p:sp>
        <p:nvSpPr>
          <p:cNvPr id="3" name="内容占位符 2"/>
          <p:cNvSpPr>
            <a:spLocks noGrp="1"/>
          </p:cNvSpPr>
          <p:nvPr>
            <p:ph idx="1"/>
          </p:nvPr>
        </p:nvSpPr>
        <p:spPr>
          <a:xfrm>
            <a:off x="220024" y="982070"/>
            <a:ext cx="11838215" cy="5875930"/>
          </a:xfrm>
        </p:spPr>
        <p:txBody>
          <a:bodyPr>
            <a:normAutofit/>
          </a:bodyPr>
          <a:lstStyle/>
          <a:p>
            <a:r>
              <a:rPr lang="zh-CN" altLang="en-US" dirty="0"/>
              <a:t>材料的提交</a:t>
            </a:r>
            <a:endParaRPr lang="en-US" altLang="zh-CN" dirty="0"/>
          </a:p>
          <a:p>
            <a:pPr lvl="1">
              <a:buClr>
                <a:srgbClr val="006600"/>
              </a:buClr>
            </a:pPr>
            <a:r>
              <a:rPr lang="en-US" altLang="zh-CN" dirty="0"/>
              <a:t> 1. </a:t>
            </a:r>
            <a:r>
              <a:rPr lang="zh-CN" altLang="en-US" dirty="0"/>
              <a:t>资料袋（内含</a:t>
            </a:r>
            <a:r>
              <a:rPr lang="en-US" altLang="zh-CN" dirty="0"/>
              <a:t>4</a:t>
            </a:r>
            <a:r>
              <a:rPr lang="zh-CN" altLang="en-US" dirty="0"/>
              <a:t>张蓝色纸头，要求书写完整、规格）</a:t>
            </a:r>
            <a:endParaRPr lang="en-US" altLang="zh-CN" dirty="0"/>
          </a:p>
          <a:p>
            <a:pPr lvl="1">
              <a:buClr>
                <a:srgbClr val="006600"/>
              </a:buClr>
            </a:pPr>
            <a:r>
              <a:rPr lang="en-US" altLang="zh-CN" dirty="0"/>
              <a:t> 2. </a:t>
            </a:r>
            <a:r>
              <a:rPr lang="zh-CN" altLang="en-US" dirty="0"/>
              <a:t>单面打印的开发技术文档（技术文档排版要按照学校要求）。</a:t>
            </a:r>
            <a:endParaRPr lang="en-US" altLang="zh-CN" dirty="0"/>
          </a:p>
          <a:p>
            <a:pPr lvl="1">
              <a:buClr>
                <a:srgbClr val="006600"/>
              </a:buClr>
            </a:pPr>
            <a:r>
              <a:rPr lang="en-US" altLang="zh-CN" dirty="0"/>
              <a:t> 3. </a:t>
            </a:r>
            <a:r>
              <a:rPr lang="zh-CN" altLang="en-US" dirty="0"/>
              <a:t>刻光盘（内含 </a:t>
            </a:r>
            <a:r>
              <a:rPr lang="en-US" altLang="zh-CN" dirty="0"/>
              <a:t>word</a:t>
            </a:r>
            <a:r>
              <a:rPr lang="zh-CN" altLang="en-US" dirty="0"/>
              <a:t>版技术文档和源程序代码）</a:t>
            </a:r>
            <a:r>
              <a:rPr lang="en-US" altLang="zh-CN" dirty="0"/>
              <a:t> </a:t>
            </a:r>
            <a:endParaRPr lang="zh-CN" altLang="en-US" dirty="0"/>
          </a:p>
        </p:txBody>
      </p:sp>
    </p:spTree>
    <p:extLst>
      <p:ext uri="{BB962C8B-B14F-4D97-AF65-F5344CB8AC3E}">
        <p14:creationId xmlns:p14="http://schemas.microsoft.com/office/powerpoint/2010/main" val="2997413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评定标准</a:t>
            </a:r>
          </a:p>
        </p:txBody>
      </p:sp>
      <p:sp>
        <p:nvSpPr>
          <p:cNvPr id="3" name="内容占位符 2"/>
          <p:cNvSpPr>
            <a:spLocks noGrp="1"/>
          </p:cNvSpPr>
          <p:nvPr>
            <p:ph idx="1"/>
          </p:nvPr>
        </p:nvSpPr>
        <p:spPr/>
        <p:txBody>
          <a:bodyPr/>
          <a:lstStyle/>
          <a:p>
            <a:r>
              <a:rPr lang="zh-CN" altLang="en-US" dirty="0"/>
              <a:t>平时成绩</a:t>
            </a:r>
            <a:r>
              <a:rPr lang="en-US" altLang="zh-CN" dirty="0"/>
              <a:t>30%</a:t>
            </a:r>
          </a:p>
          <a:p>
            <a:pPr lvl="1"/>
            <a:r>
              <a:rPr lang="en-US" altLang="zh-CN" dirty="0"/>
              <a:t>A</a:t>
            </a:r>
            <a:r>
              <a:rPr lang="zh-CN" altLang="en-US" dirty="0"/>
              <a:t>、学习努力、勤奋，严格遵守校纪，工作量饱满，能很好地完成规定的进度（</a:t>
            </a:r>
            <a:r>
              <a:rPr lang="en-US" altLang="zh-CN" dirty="0"/>
              <a:t>30</a:t>
            </a:r>
            <a:r>
              <a:rPr lang="zh-CN" altLang="en-US" dirty="0"/>
              <a:t>）</a:t>
            </a:r>
          </a:p>
          <a:p>
            <a:pPr lvl="1"/>
            <a:r>
              <a:rPr lang="en-US" altLang="zh-CN" dirty="0"/>
              <a:t>B</a:t>
            </a:r>
            <a:r>
              <a:rPr lang="zh-CN" altLang="en-US" dirty="0"/>
              <a:t>、学习较努力、勤奋，能严格遵守校纪，工作量较饱满，能完成规定的进度（</a:t>
            </a:r>
            <a:r>
              <a:rPr lang="en-US" altLang="zh-CN" dirty="0"/>
              <a:t>20</a:t>
            </a:r>
            <a:r>
              <a:rPr lang="zh-CN" altLang="en-US" dirty="0"/>
              <a:t>）</a:t>
            </a:r>
          </a:p>
          <a:p>
            <a:pPr lvl="1"/>
            <a:r>
              <a:rPr lang="en-US" altLang="zh-CN" dirty="0"/>
              <a:t>C</a:t>
            </a:r>
            <a:r>
              <a:rPr lang="zh-CN" altLang="en-US" dirty="0"/>
              <a:t>、学习不够努力、勤奋，遵守校纪不够，工作量一般，完成规定的进度不够（</a:t>
            </a:r>
            <a:r>
              <a:rPr lang="en-US" altLang="zh-CN" dirty="0"/>
              <a:t>10</a:t>
            </a:r>
            <a:r>
              <a:rPr lang="zh-CN" altLang="en-US" dirty="0"/>
              <a:t>）</a:t>
            </a:r>
          </a:p>
          <a:p>
            <a:pPr lvl="1"/>
            <a:r>
              <a:rPr lang="en-US" altLang="zh-CN" dirty="0"/>
              <a:t>D</a:t>
            </a:r>
            <a:r>
              <a:rPr lang="zh-CN" altLang="en-US" dirty="0"/>
              <a:t>、学习不努力、勤奋，不遵守校纪，不能完成规定的进度（</a:t>
            </a:r>
            <a:r>
              <a:rPr lang="en-US" altLang="zh-CN" dirty="0"/>
              <a:t>0</a:t>
            </a:r>
            <a:r>
              <a:rPr lang="zh-CN" altLang="en-US" dirty="0"/>
              <a:t>）</a:t>
            </a:r>
          </a:p>
          <a:p>
            <a:endParaRPr lang="zh-CN" altLang="en-US" dirty="0"/>
          </a:p>
        </p:txBody>
      </p:sp>
    </p:spTree>
    <p:extLst>
      <p:ext uri="{BB962C8B-B14F-4D97-AF65-F5344CB8AC3E}">
        <p14:creationId xmlns:p14="http://schemas.microsoft.com/office/powerpoint/2010/main" val="752217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评定标准</a:t>
            </a:r>
            <a:r>
              <a:rPr lang="en-US" altLang="zh-CN" dirty="0"/>
              <a:t>-</a:t>
            </a:r>
            <a:r>
              <a:rPr lang="zh-CN" altLang="en-US" dirty="0"/>
              <a:t>设计质量</a:t>
            </a:r>
          </a:p>
        </p:txBody>
      </p:sp>
      <p:sp>
        <p:nvSpPr>
          <p:cNvPr id="3" name="内容占位符 2"/>
          <p:cNvSpPr>
            <a:spLocks noGrp="1"/>
          </p:cNvSpPr>
          <p:nvPr>
            <p:ph idx="1"/>
          </p:nvPr>
        </p:nvSpPr>
        <p:spPr/>
        <p:txBody>
          <a:bodyPr/>
          <a:lstStyle/>
          <a:p>
            <a:r>
              <a:rPr lang="zh-CN" altLang="en-US" dirty="0"/>
              <a:t>设计质量（图纸、说明书、设计报告）</a:t>
            </a:r>
            <a:r>
              <a:rPr lang="en-US" altLang="zh-CN" dirty="0"/>
              <a:t>30%</a:t>
            </a:r>
          </a:p>
          <a:p>
            <a:pPr lvl="1"/>
            <a:r>
              <a:rPr lang="zh-CN" altLang="en-US" dirty="0"/>
              <a:t> 从可行性研究方案，能够分析课程设计中实施过程中遇到的各种问题，并提出一些想法和建议。论文格式规范，语言通顺、流畅，标点符号、语法正确；论文思路层次清晰，论述准确，重点突出，系统的创新性等方面考核。</a:t>
            </a:r>
          </a:p>
        </p:txBody>
      </p:sp>
    </p:spTree>
    <p:extLst>
      <p:ext uri="{BB962C8B-B14F-4D97-AF65-F5344CB8AC3E}">
        <p14:creationId xmlns:p14="http://schemas.microsoft.com/office/powerpoint/2010/main" val="4261213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评定标准</a:t>
            </a:r>
            <a:r>
              <a:rPr lang="en-US" altLang="zh-CN" dirty="0"/>
              <a:t>-</a:t>
            </a:r>
            <a:r>
              <a:rPr lang="zh-CN" altLang="en-US" dirty="0"/>
              <a:t>程序检查或者答辩</a:t>
            </a:r>
          </a:p>
        </p:txBody>
      </p:sp>
      <p:sp>
        <p:nvSpPr>
          <p:cNvPr id="3" name="内容占位符 2"/>
          <p:cNvSpPr>
            <a:spLocks noGrp="1"/>
          </p:cNvSpPr>
          <p:nvPr>
            <p:ph idx="1"/>
          </p:nvPr>
        </p:nvSpPr>
        <p:spPr/>
        <p:txBody>
          <a:bodyPr/>
          <a:lstStyle/>
          <a:p>
            <a:r>
              <a:rPr lang="zh-CN" altLang="en-US" dirty="0"/>
              <a:t>程序检查或者答辩情况记录：</a:t>
            </a:r>
            <a:r>
              <a:rPr lang="en-US" altLang="zh-CN" dirty="0"/>
              <a:t>40%</a:t>
            </a:r>
          </a:p>
          <a:p>
            <a:pPr lvl="1"/>
            <a:r>
              <a:rPr lang="zh-CN" altLang="en-US" dirty="0"/>
              <a:t>程序检查，从完成了任务书所规定的各项任务。程序运行情况，系统功能完整考核。</a:t>
            </a:r>
            <a:endParaRPr lang="en-US" altLang="zh-CN" dirty="0"/>
          </a:p>
          <a:p>
            <a:pPr lvl="1"/>
            <a:r>
              <a:rPr lang="zh-CN" altLang="en-US" dirty="0"/>
              <a:t>答辩检查点：思路清楚，叙述简洁、流利，能够重点突出，表现出对所从事的研究内容掌握的情况。回答问题正确性，概念清楚，理论知识掌握扎实等方面考查。</a:t>
            </a:r>
          </a:p>
        </p:txBody>
      </p:sp>
    </p:spTree>
    <p:extLst>
      <p:ext uri="{BB962C8B-B14F-4D97-AF65-F5344CB8AC3E}">
        <p14:creationId xmlns:p14="http://schemas.microsoft.com/office/powerpoint/2010/main" val="26499254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本讲小结</a:t>
            </a:r>
          </a:p>
        </p:txBody>
      </p:sp>
      <p:sp>
        <p:nvSpPr>
          <p:cNvPr id="3" name="内容占位符 2"/>
          <p:cNvSpPr>
            <a:spLocks noGrp="1"/>
          </p:cNvSpPr>
          <p:nvPr>
            <p:ph idx="1"/>
          </p:nvPr>
        </p:nvSpPr>
        <p:spPr>
          <a:xfrm>
            <a:off x="672859" y="1039843"/>
            <a:ext cx="8893835" cy="1406105"/>
          </a:xfrm>
        </p:spPr>
        <p:txBody>
          <a:bodyPr>
            <a:normAutofit/>
          </a:bodyPr>
          <a:lstStyle/>
          <a:p>
            <a:pPr>
              <a:lnSpc>
                <a:spcPct val="110000"/>
              </a:lnSpc>
            </a:pPr>
            <a:r>
              <a:rPr lang="zh-CN" altLang="en-US" dirty="0">
                <a:latin typeface="Comic Sans MS" panose="030F0702030302020204" pitchFamily="66" charset="0"/>
              </a:rPr>
              <a:t>明确航运应用软件开发的意义。</a:t>
            </a:r>
            <a:endParaRPr lang="en-US" altLang="zh-CN" dirty="0">
              <a:latin typeface="Comic Sans MS" panose="030F0702030302020204" pitchFamily="66" charset="0"/>
            </a:endParaRPr>
          </a:p>
          <a:p>
            <a:pPr>
              <a:lnSpc>
                <a:spcPct val="110000"/>
              </a:lnSpc>
            </a:pPr>
            <a:r>
              <a:rPr lang="zh-CN" altLang="en-US" dirty="0">
                <a:latin typeface="Comic Sans MS" panose="030F0702030302020204" pitchFamily="66" charset="0"/>
              </a:rPr>
              <a:t>掌握航运应用软件开发课程设计的基本步骤和要求。</a:t>
            </a:r>
            <a:endParaRPr lang="zh-CN" altLang="en-US" dirty="0"/>
          </a:p>
        </p:txBody>
      </p:sp>
      <p:pic>
        <p:nvPicPr>
          <p:cNvPr id="4" name="图片 3"/>
          <p:cNvPicPr>
            <a:picLocks noChangeAspect="1"/>
          </p:cNvPicPr>
          <p:nvPr/>
        </p:nvPicPr>
        <p:blipFill>
          <a:blip r:embed="rId2"/>
          <a:stretch>
            <a:fillRect/>
          </a:stretch>
        </p:blipFill>
        <p:spPr>
          <a:xfrm>
            <a:off x="6305340" y="4554185"/>
            <a:ext cx="1182727" cy="1005927"/>
          </a:xfrm>
          <a:prstGeom prst="rect">
            <a:avLst/>
          </a:prstGeom>
        </p:spPr>
      </p:pic>
      <p:sp>
        <p:nvSpPr>
          <p:cNvPr id="6" name="内容占位符 2"/>
          <p:cNvSpPr txBox="1">
            <a:spLocks/>
          </p:cNvSpPr>
          <p:nvPr/>
        </p:nvSpPr>
        <p:spPr>
          <a:xfrm>
            <a:off x="7617464" y="4848153"/>
            <a:ext cx="3296150" cy="578531"/>
          </a:xfrm>
          <a:prstGeom prst="rect">
            <a:avLst/>
          </a:prstGeom>
        </p:spPr>
        <p:txBody>
          <a:bodyPr vert="horz" lIns="91440" tIns="45720" rIns="91440" bIns="45720" rtlCol="0">
            <a:normAutofit fontScale="77500" lnSpcReduction="20000"/>
          </a:bodyPr>
          <a:lstStyle>
            <a:lvl1pPr marL="457200" indent="-457200" algn="l" defTabSz="914400" rtl="0" eaLnBrk="1" latinLnBrk="0" hangingPunct="1">
              <a:lnSpc>
                <a:spcPct val="150000"/>
              </a:lnSpc>
              <a:spcBef>
                <a:spcPts val="1000"/>
              </a:spcBef>
              <a:buClr>
                <a:srgbClr val="FF0000"/>
              </a:buClr>
              <a:buFont typeface="Wingdings" panose="05000000000000000000" pitchFamily="2" charset="2"/>
              <a:buChar char="l"/>
              <a:defRPr sz="3200" kern="1200">
                <a:solidFill>
                  <a:srgbClr val="0000FF"/>
                </a:solidFill>
                <a:latin typeface="楷体" panose="02010609060101010101" pitchFamily="49" charset="-122"/>
                <a:ea typeface="楷体" panose="02010609060101010101" pitchFamily="49" charset="-122"/>
                <a:cs typeface="+mn-cs"/>
              </a:defRPr>
            </a:lvl1pPr>
            <a:lvl2pPr marL="685800" indent="-228600" algn="l" defTabSz="914400" rtl="0" eaLnBrk="1" latinLnBrk="0" hangingPunct="1">
              <a:lnSpc>
                <a:spcPct val="150000"/>
              </a:lnSpc>
              <a:spcBef>
                <a:spcPts val="500"/>
              </a:spcBef>
              <a:buClr>
                <a:srgbClr val="00CC00"/>
              </a:buClr>
              <a:buFont typeface="Wingdings" panose="05000000000000000000" pitchFamily="2" charset="2"/>
              <a:buChar char="Ø"/>
              <a:defRPr sz="2800" kern="1200">
                <a:solidFill>
                  <a:srgbClr val="0000FF"/>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lnSpc>
                <a:spcPct val="150000"/>
              </a:lnSpc>
              <a:spcBef>
                <a:spcPts val="500"/>
              </a:spcBef>
              <a:buClr>
                <a:srgbClr val="006666"/>
              </a:buClr>
              <a:buFont typeface="Wingdings" panose="05000000000000000000" pitchFamily="2" charset="2"/>
              <a:buChar char="u"/>
              <a:defRPr sz="2800" kern="1200">
                <a:solidFill>
                  <a:srgbClr val="0000FF"/>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rgbClr val="0000FF"/>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rgbClr val="0000FF"/>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祝大家取得好成绩！</a:t>
            </a:r>
          </a:p>
        </p:txBody>
      </p:sp>
      <p:pic>
        <p:nvPicPr>
          <p:cNvPr id="6146" name="Picture 2" descr="https://img-blog.csdnimg.cn/img_convert/59770d3ffaf203b3a2ae63d4010513e8.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9154" y="2616515"/>
            <a:ext cx="3226158" cy="1359619"/>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p:cNvPicPr>
            <a:picLocks noChangeAspect="1"/>
          </p:cNvPicPr>
          <p:nvPr/>
        </p:nvPicPr>
        <p:blipFill>
          <a:blip r:embed="rId4"/>
          <a:stretch>
            <a:fillRect/>
          </a:stretch>
        </p:blipFill>
        <p:spPr>
          <a:xfrm>
            <a:off x="1824648" y="2614446"/>
            <a:ext cx="4167937" cy="3450635"/>
          </a:xfrm>
          <a:prstGeom prst="rect">
            <a:avLst/>
          </a:prstGeom>
        </p:spPr>
      </p:pic>
    </p:spTree>
    <p:extLst>
      <p:ext uri="{BB962C8B-B14F-4D97-AF65-F5344CB8AC3E}">
        <p14:creationId xmlns:p14="http://schemas.microsoft.com/office/powerpoint/2010/main" val="1632697711"/>
      </p:ext>
    </p:extLst>
  </p:cSld>
  <p:clrMapOvr>
    <a:masterClrMapping/>
  </p:clrMapOvr>
</p:sld>
</file>

<file path=ppt/theme/theme1.xml><?xml version="1.0" encoding="utf-8"?>
<a:theme xmlns:a="http://schemas.openxmlformats.org/drawingml/2006/main" name="Office 主题">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3098</TotalTime>
  <Words>1195</Words>
  <Application>Microsoft Office PowerPoint</Application>
  <PresentationFormat>宽屏</PresentationFormat>
  <Paragraphs>84</Paragraphs>
  <Slides>19</Slides>
  <Notes>1</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19</vt:i4>
      </vt:variant>
    </vt:vector>
  </HeadingPairs>
  <TitlesOfParts>
    <vt:vector size="30" baseType="lpstr">
      <vt:lpstr>华文楷体</vt:lpstr>
      <vt:lpstr>楷体</vt:lpstr>
      <vt:lpstr>Arial</vt:lpstr>
      <vt:lpstr>Calibri</vt:lpstr>
      <vt:lpstr>Comic Sans MS</vt:lpstr>
      <vt:lpstr>Tahoma</vt:lpstr>
      <vt:lpstr>Times New Roman</vt:lpstr>
      <vt:lpstr>Verdana</vt:lpstr>
      <vt:lpstr>Wingdings</vt:lpstr>
      <vt:lpstr>Office 主题</vt:lpstr>
      <vt:lpstr>Image</vt:lpstr>
      <vt:lpstr>PowerPoint 演示文稿</vt:lpstr>
      <vt:lpstr>本讲主要内容</vt:lpstr>
      <vt:lpstr>1.航运应用软件开发的目的</vt:lpstr>
      <vt:lpstr>目的</vt:lpstr>
      <vt:lpstr>目的</vt:lpstr>
      <vt:lpstr>培养目标</vt:lpstr>
      <vt:lpstr>2.课程设计的基本要求</vt:lpstr>
      <vt:lpstr>课程设计的基本要求</vt:lpstr>
      <vt:lpstr>开发的要求</vt:lpstr>
      <vt:lpstr>课程设计要求</vt:lpstr>
      <vt:lpstr>参考题目</vt:lpstr>
      <vt:lpstr>3.航运应用软件的设计安排</vt:lpstr>
      <vt:lpstr>航运应用软件的设计安排</vt:lpstr>
      <vt:lpstr>航运应用软件的设计安排</vt:lpstr>
      <vt:lpstr>4.成绩评定标准</vt:lpstr>
      <vt:lpstr>评定标准</vt:lpstr>
      <vt:lpstr>评定标准-设计质量</vt:lpstr>
      <vt:lpstr>评定标准-程序检查或者答辩</vt:lpstr>
      <vt:lpstr>本讲小结</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第一讲 Python概述</dc:title>
  <dc:creator>Administrator</dc:creator>
  <cp:lastModifiedBy>世双 金</cp:lastModifiedBy>
  <cp:revision>429</cp:revision>
  <dcterms:created xsi:type="dcterms:W3CDTF">2023-09-26T14:14:24Z</dcterms:created>
  <dcterms:modified xsi:type="dcterms:W3CDTF">2026-01-25T14:27:51Z</dcterms:modified>
</cp:coreProperties>
</file>